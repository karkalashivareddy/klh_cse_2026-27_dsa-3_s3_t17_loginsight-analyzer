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572768"/>
            <a:ext cx="10332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1">
                <a:solidFill>
                  <a:srgbClr val="5EEAD4"/>
                </a:solidFill>
                <a:latin typeface="Segoe UI"/>
              </a:rPr>
              <a:t>DATA STRUCTURES AND ALGORITHMS-3  ·  25CS2103E  ·  PBL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48256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800" b="1">
                <a:solidFill>
                  <a:srgbClr val="EDF7F7"/>
                </a:solidFill>
                <a:latin typeface="Segoe UI"/>
              </a:rPr>
              <a:t>LogInsight Analyzer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89504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1900" b="0">
                <a:solidFill>
                  <a:srgbClr val="C8D7D9"/>
                </a:solidFill>
                <a:latin typeface="Segoe UI"/>
              </a:rPr>
              <a:t>Real-Time Log Intelligence and Incident Investigation using Classical Algorithms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858768"/>
            <a:ext cx="1371600" cy="1828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169663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400" b="1">
                <a:solidFill>
                  <a:srgbClr val="EDF7F7"/>
                </a:solidFill>
                <a:latin typeface="Segoe UI"/>
              </a:rPr>
              <a:t>KARKALA SHIVA REDDY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50" b="0">
                <a:solidFill>
                  <a:srgbClr val="A5B6BA"/>
                </a:solidFill>
                <a:latin typeface="Segoe UI"/>
              </a:rPr>
              <a:t>2520030105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400" b="1">
                <a:solidFill>
                  <a:srgbClr val="EDF7F7"/>
                </a:solidFill>
                <a:latin typeface="Segoe UI"/>
              </a:rPr>
              <a:t>PARIPALLI NAVADEEP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A5B6BA"/>
                </a:solidFill>
                <a:latin typeface="Segoe UI"/>
              </a:rPr>
              <a:t>2520030196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74243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A5B6BA"/>
                </a:solidFill>
                <a:latin typeface="Segoe UI"/>
              </a:rPr>
              <a:t>Course instructor:  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C8D7D9"/>
                </a:solidFill>
                <a:latin typeface="Segoe UI"/>
              </a:rPr>
              <a:t>Dr. J Sirisha Devi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A5B6BA"/>
                </a:solidFill>
                <a:latin typeface="Segoe UI"/>
              </a:rPr>
              <a:t>   ·   Department of Computer Science and Engineering   ·   2026-2027, Odd Semester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1">
                <a:solidFill>
                  <a:srgbClr val="5EEAD4"/>
                </a:solidFill>
                <a:latin typeface="Segoe U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900" b="1">
                <a:solidFill>
                  <a:srgbClr val="EDF7F7"/>
                </a:solidFill>
                <a:latin typeface="Segoe UI"/>
              </a:rPr>
              <a:t>One error line, spread across seven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16736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>
                <a:solidFill>
                  <a:srgbClr val="A5B6BA"/>
                </a:solidFill>
                <a:latin typeface="Segoe UI"/>
              </a:rPr>
              <a:t>During an outage the evidence exists, but it is diluted, interleaved and queried faster than a human can read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47088"/>
            <a:ext cx="10881360" cy="12801"/>
          </a:xfrm>
          <a:prstGeom prst="rect">
            <a:avLst/>
          </a:prstGeom>
          <a:solidFill>
            <a:srgbClr val="1E2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2157984"/>
            <a:ext cx="5230368" cy="3968496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77439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FB7185"/>
                </a:solidFill>
                <a:latin typeface="Segoe UI"/>
              </a:rPr>
              <a:t>THE SCENARIO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24912"/>
            <a:ext cx="4718304" cy="15702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8000"/>
              </a:lnSpc>
              <a:spcAft>
                <a:spcPts val="700"/>
              </a:spcAft>
            </a:pPr>
            <a:r>
              <a:rPr sz="1250">
                <a:solidFill>
                  <a:srgbClr val="FB7185"/>
                </a:solidFill>
                <a:latin typeface="Segoe UI"/>
              </a:rPr>
              <a:t>— </a:t>
            </a:r>
            <a:r>
              <a:rPr sz="1250">
                <a:solidFill>
                  <a:srgbClr val="C8D7D9"/>
                </a:solidFill>
                <a:latin typeface="Segoe UI"/>
              </a:rPr>
              <a:t>A payment provider begins returning 502 responses.</a:t>
            </a:r>
          </a:p>
          <a:p>
            <a:pPr>
              <a:lnSpc>
                <a:spcPct val="128000"/>
              </a:lnSpc>
              <a:spcAft>
                <a:spcPts val="700"/>
              </a:spcAft>
            </a:pPr>
            <a:r>
              <a:rPr sz="1250">
                <a:solidFill>
                  <a:srgbClr val="FB7185"/>
                </a:solidFill>
                <a:latin typeface="Segoe UI"/>
              </a:rPr>
              <a:t>— </a:t>
            </a:r>
            <a:r>
              <a:rPr sz="1250">
                <a:solidFill>
                  <a:srgbClr val="C8D7D9"/>
                </a:solidFill>
                <a:latin typeface="Segoe UI"/>
              </a:rPr>
              <a:t>The order service retries; the gateway returns 504.</a:t>
            </a:r>
          </a:p>
          <a:p>
            <a:pPr>
              <a:lnSpc>
                <a:spcPct val="128000"/>
              </a:lnSpc>
              <a:spcAft>
                <a:spcPts val="700"/>
              </a:spcAft>
            </a:pPr>
            <a:r>
              <a:rPr sz="1250">
                <a:solidFill>
                  <a:srgbClr val="FB7185"/>
                </a:solidFill>
                <a:latin typeface="Segoe UI"/>
              </a:rPr>
              <a:t>— </a:t>
            </a:r>
            <a:r>
              <a:rPr sz="1250">
                <a:solidFill>
                  <a:srgbClr val="C8D7D9"/>
                </a:solidFill>
                <a:latin typeface="Segoe UI"/>
              </a:rPr>
              <a:t>Notifications stop; customers see failed checkouts.</a:t>
            </a:r>
          </a:p>
          <a:p>
            <a:pPr>
              <a:lnSpc>
                <a:spcPct val="128000"/>
              </a:lnSpc>
              <a:spcAft>
                <a:spcPts val="700"/>
              </a:spcAft>
            </a:pPr>
            <a:r>
              <a:rPr sz="1250">
                <a:solidFill>
                  <a:srgbClr val="FB7185"/>
                </a:solidFill>
                <a:latin typeface="Segoe UI"/>
              </a:rPr>
              <a:t>— </a:t>
            </a:r>
            <a:r>
              <a:rPr sz="1250">
                <a:solidFill>
                  <a:srgbClr val="C8D7D9"/>
                </a:solidFill>
                <a:latin typeface="Segoe UI"/>
              </a:rPr>
              <a:t>The first ERROR line appears immediately — but it is one record among ~14,000 across seven services.</a:t>
            </a:r>
          </a:p>
          <a:p>
            <a:pPr>
              <a:lnSpc>
                <a:spcPct val="128000"/>
              </a:lnSpc>
              <a:spcAft>
                <a:spcPts val="700"/>
              </a:spcAft>
            </a:pPr>
            <a:r>
              <a:rPr sz="1250">
                <a:solidFill>
                  <a:srgbClr val="FB7185"/>
                </a:solidFill>
                <a:latin typeface="Segoe UI"/>
              </a:rPr>
              <a:t>— </a:t>
            </a:r>
            <a:r>
              <a:rPr sz="1250">
                <a:solidFill>
                  <a:srgbClr val="C8D7D9"/>
                </a:solidFill>
                <a:latin typeface="Segoe UI"/>
              </a:rPr>
              <a:t>Scrolling a flat log view does not surface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157984"/>
            <a:ext cx="5230368" cy="3968496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65392" y="2377439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FBBF24"/>
                </a:solidFill>
                <a:latin typeface="Segoe UI"/>
              </a:rPr>
              <a:t>WHY NAIVE SEARCH FAILS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392" y="2724912"/>
            <a:ext cx="4718304" cy="137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8000"/>
              </a:lnSpc>
              <a:spcAft>
                <a:spcPts val="900"/>
              </a:spcAft>
            </a:pPr>
            <a:r>
              <a:rPr sz="1250">
                <a:solidFill>
                  <a:srgbClr val="FBBF24"/>
                </a:solidFill>
                <a:latin typeface="Segoe UI"/>
              </a:rPr>
              <a:t>— </a:t>
            </a:r>
            <a:r>
              <a:rPr sz="1250">
                <a:solidFill>
                  <a:srgbClr val="C8D7D9"/>
                </a:solidFill>
                <a:latin typeface="Segoe UI"/>
              </a:rPr>
              <a:t>Substring search is O(nm): it rescans the corpus on every keystroke.</a:t>
            </a:r>
          </a:p>
          <a:p>
            <a:pPr>
              <a:lnSpc>
                <a:spcPct val="128000"/>
              </a:lnSpc>
              <a:spcAft>
                <a:spcPts val="900"/>
              </a:spcAft>
            </a:pPr>
            <a:r>
              <a:rPr sz="1250">
                <a:solidFill>
                  <a:srgbClr val="FBBF24"/>
                </a:solidFill>
                <a:latin typeface="Segoe UI"/>
              </a:rPr>
              <a:t>— </a:t>
            </a:r>
            <a:r>
              <a:rPr sz="1250">
                <a:solidFill>
                  <a:srgbClr val="C8D7D9"/>
                </a:solidFill>
                <a:latin typeface="Segoe UI"/>
              </a:rPr>
              <a:t>Worst case it is quadratic in the pattern length.</a:t>
            </a:r>
          </a:p>
          <a:p>
            <a:pPr>
              <a:lnSpc>
                <a:spcPct val="128000"/>
              </a:lnSpc>
              <a:spcAft>
                <a:spcPts val="900"/>
              </a:spcAft>
            </a:pPr>
            <a:r>
              <a:rPr sz="1250">
                <a:solidFill>
                  <a:srgbClr val="FBBF24"/>
                </a:solidFill>
                <a:latin typeface="Segoe UI"/>
              </a:rPr>
              <a:t>— </a:t>
            </a:r>
            <a:r>
              <a:rPr sz="1250">
                <a:solidFill>
                  <a:srgbClr val="C8D7D9"/>
                </a:solidFill>
                <a:latin typeface="Segoe UI"/>
              </a:rPr>
              <a:t>The engineer does not know the phrase to search for.</a:t>
            </a:r>
          </a:p>
          <a:p>
            <a:pPr>
              <a:lnSpc>
                <a:spcPct val="128000"/>
              </a:lnSpc>
              <a:spcAft>
                <a:spcPts val="900"/>
              </a:spcAft>
            </a:pPr>
            <a:r>
              <a:rPr sz="1250">
                <a:solidFill>
                  <a:srgbClr val="FBBF24"/>
                </a:solidFill>
                <a:latin typeface="Segoe UI"/>
              </a:rPr>
              <a:t>— </a:t>
            </a:r>
            <a:r>
              <a:rPr sz="1250">
                <a:solidFill>
                  <a:srgbClr val="C8D7D9"/>
                </a:solidFill>
                <a:latin typeface="Segoe UI"/>
              </a:rPr>
              <a:t>The message that matters is the one that actually occurred, not the one remembered.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5566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00" b="0">
                <a:solidFill>
                  <a:srgbClr val="5A6B70"/>
                </a:solidFill>
                <a:latin typeface="Segoe UI"/>
              </a:rPr>
              <a:t>LogInsight Analyzer  ·  KLH_CSE_2026-27_DSA-3_S3_T17_Loginsight-Analyzer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5566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900" b="0">
                <a:solidFill>
                  <a:srgbClr val="5A6B70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1">
                <a:solidFill>
                  <a:srgbClr val="5EEAD4"/>
                </a:solidFill>
                <a:latin typeface="Segoe UI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900" b="1">
                <a:solidFill>
                  <a:srgbClr val="EDF7F7"/>
                </a:solidFill>
                <a:latin typeface="Segoe UI"/>
              </a:rPr>
              <a:t>Classical algorithms, made visible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16736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>
                <a:solidFill>
                  <a:srgbClr val="A5B6BA"/>
                </a:solidFill>
                <a:latin typeface="Segoe UI"/>
              </a:rPr>
              <a:t>Each number on screen is traceable to the algorithm that produced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47088"/>
            <a:ext cx="10881360" cy="12801"/>
          </a:xfrm>
          <a:prstGeom prst="rect">
            <a:avLst/>
          </a:prstGeom>
          <a:solidFill>
            <a:srgbClr val="1E2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2194560"/>
            <a:ext cx="3529584" cy="1243584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32004" cy="1243584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340864"/>
            <a:ext cx="3072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>
                <a:solidFill>
                  <a:srgbClr val="EDF7F7"/>
                </a:solidFill>
                <a:latin typeface="Segoe UI"/>
              </a:rPr>
              <a:t>KMP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2350008"/>
            <a:ext cx="9692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5EEAD4"/>
                </a:solidFill>
                <a:latin typeface="Segoe UI"/>
              </a:rPr>
              <a:t>O(n + 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670048"/>
            <a:ext cx="3072384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1050" b="0">
                <a:solidFill>
                  <a:srgbClr val="A5B6BA"/>
                </a:solidFill>
                <a:latin typeface="Segoe UI"/>
              </a:rPr>
              <a:t>Linear exact substring search. No backtracking; failure function pulls the pattern state back instead of the text pointer.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1" y="2194560"/>
            <a:ext cx="3529584" cy="1243584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1" y="2194560"/>
            <a:ext cx="32004" cy="1243584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8575" y="2340864"/>
            <a:ext cx="3072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>
                <a:solidFill>
                  <a:srgbClr val="EDF7F7"/>
                </a:solidFill>
                <a:latin typeface="Segoe UI"/>
              </a:rPr>
              <a:t>Aho-Corasick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11695" y="2350008"/>
            <a:ext cx="9692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60A5FA"/>
                </a:solidFill>
                <a:latin typeface="Segoe UI"/>
              </a:rPr>
              <a:t>O(n)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8575" y="2670048"/>
            <a:ext cx="3072384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1050" b="0">
                <a:solidFill>
                  <a:srgbClr val="A5B6BA"/>
                </a:solidFill>
                <a:latin typeface="Segoe UI"/>
              </a:rPr>
              <a:t>All error signatures tested in one left-to-right pass — this is what labels each generated event with its cause.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3296" y="2194560"/>
            <a:ext cx="3529584" cy="1243584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83296" y="2194560"/>
            <a:ext cx="32004" cy="1243584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2340864"/>
            <a:ext cx="3072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>
                <a:solidFill>
                  <a:srgbClr val="EDF7F7"/>
                </a:solidFill>
                <a:latin typeface="Segoe UI"/>
              </a:rPr>
              <a:t>Levenshtein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59" y="2350008"/>
            <a:ext cx="9692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A78BFA"/>
                </a:solidFill>
                <a:latin typeface="Segoe UI"/>
              </a:rPr>
              <a:t>O(nm)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670048"/>
            <a:ext cx="3072384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1050" b="0">
                <a:solidFill>
                  <a:srgbClr val="A5B6BA"/>
                </a:solidFill>
                <a:latin typeface="Segoe UI"/>
              </a:rPr>
              <a:t>Edit-distance DP table ranks a “did you mean” suggestion when the operator does not know the phrase.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621024"/>
            <a:ext cx="3529584" cy="1243584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621024"/>
            <a:ext cx="32004" cy="1243584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3767328"/>
            <a:ext cx="3072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>
                <a:solidFill>
                  <a:srgbClr val="EDF7F7"/>
                </a:solidFill>
                <a:latin typeface="Segoe UI"/>
              </a:rPr>
              <a:t>BFS reachability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99232" y="3776472"/>
            <a:ext cx="9692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FBBF24"/>
                </a:solidFill>
                <a:latin typeface="Segoe UI"/>
              </a:rPr>
              <a:t>O(V + 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4096512"/>
            <a:ext cx="3072384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1050" b="0">
                <a:solidFill>
                  <a:srgbClr val="A5B6BA"/>
                </a:solidFill>
                <a:latin typeface="Segoe UI"/>
              </a:rPr>
              <a:t>Blast radius: services reachable downstream of the failing one, by graph traversal.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70831" y="3621024"/>
            <a:ext cx="3529584" cy="1243584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70831" y="3621024"/>
            <a:ext cx="32004" cy="1243584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08575" y="3767328"/>
            <a:ext cx="3072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>
                <a:solidFill>
                  <a:srgbClr val="EDF7F7"/>
                </a:solidFill>
                <a:latin typeface="Segoe UI"/>
              </a:rPr>
              <a:t>Fixed-window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11695" y="3776472"/>
            <a:ext cx="9692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34D399"/>
                </a:solidFill>
                <a:latin typeface="Segoe UI"/>
              </a:rPr>
              <a:t>O(n + W)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08575" y="4096512"/>
            <a:ext cx="3072384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1050" b="0">
                <a:solidFill>
                  <a:srgbClr val="A5B6BA"/>
                </a:solidFill>
                <a:latin typeface="Segoe UI"/>
              </a:rPr>
              <a:t>Five-minute buckets, baseline-relative threshold, merged into one incident per failure.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3296" y="3621024"/>
            <a:ext cx="3529584" cy="1243584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83296" y="3621024"/>
            <a:ext cx="32004" cy="1243584"/>
          </a:xfrm>
          <a:prstGeom prst="rect">
            <a:avLst/>
          </a:prstGeom>
          <a:solidFill>
            <a:srgbClr val="E79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21040" y="3767328"/>
            <a:ext cx="3072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>
                <a:solidFill>
                  <a:srgbClr val="EDF7F7"/>
                </a:solidFill>
                <a:latin typeface="Segoe UI"/>
              </a:rPr>
              <a:t>Suffix array + LCP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59" y="3776472"/>
            <a:ext cx="9692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E79AC4"/>
                </a:solidFill>
                <a:latin typeface="Segoe UI"/>
              </a:rPr>
              <a:t>O(n log n)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4096512"/>
            <a:ext cx="3072384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1050" b="0">
                <a:solidFill>
                  <a:srgbClr val="A5B6BA"/>
                </a:solidFill>
                <a:latin typeface="Segoe UI"/>
              </a:rPr>
              <a:t>Kasai LCP powers traceable phrase search over the corpus.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5566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00" b="0">
                <a:solidFill>
                  <a:srgbClr val="5A6B70"/>
                </a:solidFill>
                <a:latin typeface="Segoe UI"/>
              </a:rPr>
              <a:t>LogInsight Analyzer  ·  KLH_CSE_2026-27_DSA-3_S3_T17_Loginsight-Analyzer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645566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900" b="0">
                <a:solidFill>
                  <a:srgbClr val="5A6B70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1">
                <a:solidFill>
                  <a:srgbClr val="5EEAD4"/>
                </a:solidFill>
                <a:latin typeface="Segoe U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900" b="1">
                <a:solidFill>
                  <a:srgbClr val="EDF7F7"/>
                </a:solidFill>
                <a:latin typeface="Segoe UI"/>
              </a:rPr>
              <a:t>Three layers, one deterministic stream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16736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>
                <a:solidFill>
                  <a:srgbClr val="A5B6BA"/>
                </a:solidFill>
                <a:latin typeface="Segoe UI"/>
              </a:rPr>
              <a:t>State is server-owned so the overview and the monitor can never show contradictory numbers.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47088"/>
            <a:ext cx="10881360" cy="12801"/>
          </a:xfrm>
          <a:prstGeom prst="rect">
            <a:avLst/>
          </a:prstGeom>
          <a:solidFill>
            <a:srgbClr val="1E2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2157984"/>
            <a:ext cx="10881360" cy="969264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157984"/>
            <a:ext cx="32004" cy="969264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276856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5EEAD4"/>
                </a:solidFill>
                <a:latin typeface="Segoe UI"/>
              </a:rPr>
              <a:t>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560320"/>
            <a:ext cx="3017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4000"/>
              </a:lnSpc>
              <a:spcAft>
                <a:spcPts val="400"/>
              </a:spcAft>
            </a:pPr>
            <a:r>
              <a:rPr sz="1250" b="1">
                <a:solidFill>
                  <a:srgbClr val="EDF7F7"/>
                </a:solidFill>
                <a:latin typeface="Segoe UI"/>
              </a:rPr>
              <a:t>React 18 · TypeScript · Vite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304288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150"/>
              </a:spcAft>
            </a:pPr>
            <a:r>
              <a:rPr sz="1080" b="0">
                <a:solidFill>
                  <a:srgbClr val="A5B6BA"/>
                </a:solidFill>
                <a:latin typeface="Segoe UI"/>
              </a:rPr>
              <a:t>•  Command center, Scenario Lab, Live Monitor, Incident Workbench</a:t>
            </a:r>
          </a:p>
          <a:p>
            <a:pPr algn="l">
              <a:lnSpc>
                <a:spcPct val="120000"/>
              </a:lnSpc>
              <a:spcAft>
                <a:spcPts val="150"/>
              </a:spcAft>
            </a:pPr>
            <a:r>
              <a:rPr sz="1080" b="0">
                <a:solidFill>
                  <a:srgbClr val="A5B6BA"/>
                </a:solidFill>
                <a:latin typeface="Segoe UI"/>
              </a:rPr>
              <a:t>•  2D SVG topology + lazy-loaded Three.js scene</a:t>
            </a:r>
          </a:p>
          <a:p>
            <a:pPr algn="l">
              <a:lnSpc>
                <a:spcPct val="120000"/>
              </a:lnSpc>
              <a:spcAft>
                <a:spcPts val="150"/>
              </a:spcAft>
            </a:pPr>
            <a:r>
              <a:rPr sz="1080" b="0">
                <a:solidFill>
                  <a:srgbClr val="A5B6BA"/>
                </a:solidFill>
                <a:latin typeface="Segoe UI"/>
              </a:rPr>
              <a:t>•  One TelemetryProvider owns the SSE stream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255264"/>
            <a:ext cx="10881360" cy="969264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255264"/>
            <a:ext cx="32004" cy="969264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374136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60A5FA"/>
                </a:solidFill>
                <a:latin typeface="Segoe UI"/>
              </a:rPr>
              <a:t>SERVICE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657600"/>
            <a:ext cx="3017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4000"/>
              </a:lnSpc>
              <a:spcAft>
                <a:spcPts val="400"/>
              </a:spcAft>
            </a:pPr>
            <a:r>
              <a:rPr sz="1250" b="1">
                <a:solidFill>
                  <a:srgbClr val="EDF7F7"/>
                </a:solidFill>
                <a:latin typeface="Segoe UI"/>
              </a:rPr>
              <a:t>Java 21 · Spring Boot · REST + SSE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3401568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150"/>
              </a:spcAft>
            </a:pPr>
            <a:r>
              <a:rPr sz="1080" b="0">
                <a:solidFill>
                  <a:srgbClr val="A5B6BA"/>
                </a:solidFill>
                <a:latin typeface="Segoe UI"/>
              </a:rPr>
              <a:t>•  Dataset lifecycle, incident detector, deterministic simulation</a:t>
            </a:r>
          </a:p>
          <a:p>
            <a:pPr algn="l">
              <a:lnSpc>
                <a:spcPct val="120000"/>
              </a:lnSpc>
              <a:spcAft>
                <a:spcPts val="150"/>
              </a:spcAft>
            </a:pPr>
            <a:r>
              <a:rPr sz="1080" b="0">
                <a:solidFill>
                  <a:srgbClr val="A5B6BA"/>
                </a:solidFill>
                <a:latin typeface="Segoe UI"/>
              </a:rPr>
              <a:t>•  35 algorithm engines behind a query registry</a:t>
            </a:r>
          </a:p>
          <a:p>
            <a:pPr algn="l">
              <a:lnSpc>
                <a:spcPct val="120000"/>
              </a:lnSpc>
              <a:spcAft>
                <a:spcPts val="150"/>
              </a:spcAft>
            </a:pPr>
            <a:r>
              <a:rPr sz="1080" b="0">
                <a:solidFill>
                  <a:srgbClr val="A5B6BA"/>
                </a:solidFill>
                <a:latin typeface="Segoe UI"/>
              </a:rPr>
              <a:t>•  Forward-only incident lifecycle; illegal moves return 409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352544"/>
            <a:ext cx="10881360" cy="969264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8368" y="4352544"/>
            <a:ext cx="32004" cy="969264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471416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A78BFA"/>
                </a:solidFill>
                <a:latin typeface="Segoe UI"/>
              </a:rPr>
              <a:t>ALGORITHM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4754880"/>
            <a:ext cx="3017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4000"/>
              </a:lnSpc>
              <a:spcAft>
                <a:spcPts val="400"/>
              </a:spcAft>
            </a:pPr>
            <a:r>
              <a:rPr sz="1250" b="1">
                <a:solidFill>
                  <a:srgbClr val="EDF7F7"/>
                </a:solidFill>
                <a:latin typeface="Segoe UI"/>
              </a:rPr>
              <a:t>com.loginsight.dsa (pure Java)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4498848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150"/>
              </a:spcAft>
            </a:pPr>
            <a:r>
              <a:rPr sz="1080" b="0">
                <a:solidFill>
                  <a:srgbClr val="A5B6BA"/>
                </a:solidFill>
                <a:latin typeface="Segoe UI"/>
              </a:rPr>
              <a:t>•  String matching · dynamic programming · graph traversal</a:t>
            </a:r>
          </a:p>
          <a:p>
            <a:pPr algn="l">
              <a:lnSpc>
                <a:spcPct val="120000"/>
              </a:lnSpc>
              <a:spcAft>
                <a:spcPts val="150"/>
              </a:spcAft>
            </a:pPr>
            <a:r>
              <a:rPr sz="1080" b="0">
                <a:solidFill>
                  <a:srgbClr val="A5B6BA"/>
                </a:solidFill>
                <a:latin typeface="Segoe UI"/>
              </a:rPr>
              <a:t>•  Flow · approximation · parallel · randomized</a:t>
            </a:r>
          </a:p>
          <a:p>
            <a:pPr algn="l">
              <a:lnSpc>
                <a:spcPct val="120000"/>
              </a:lnSpc>
              <a:spcAft>
                <a:spcPts val="150"/>
              </a:spcAft>
            </a:pPr>
            <a:r>
              <a:rPr sz="1080" b="0">
                <a:solidFill>
                  <a:srgbClr val="A5B6BA"/>
                </a:solidFill>
                <a:latin typeface="Segoe UI"/>
              </a:rPr>
              <a:t>•  Each reports measured runtime and complexity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449824"/>
            <a:ext cx="10881360" cy="969264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5449824"/>
            <a:ext cx="32004" cy="969264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5568696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34D399"/>
                </a:solidFill>
                <a:latin typeface="Segoe UI"/>
              </a:rPr>
              <a:t>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5852160"/>
            <a:ext cx="3017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4000"/>
              </a:lnSpc>
              <a:spcAft>
                <a:spcPts val="400"/>
              </a:spcAft>
            </a:pPr>
            <a:r>
              <a:rPr sz="1250" b="1">
                <a:solidFill>
                  <a:srgbClr val="EDF7F7"/>
                </a:solidFill>
                <a:latin typeface="Segoe UI"/>
              </a:rPr>
              <a:t>Deterministic in-memory corpus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5596128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150"/>
              </a:spcAft>
            </a:pPr>
            <a:r>
              <a:rPr sz="1080" b="0">
                <a:solidFill>
                  <a:srgbClr val="A5B6BA"/>
                </a:solidFill>
                <a:latin typeface="Segoe UI"/>
              </a:rPr>
              <a:t>•  14,000 seeded events, re-anchored to the current hour</a:t>
            </a:r>
          </a:p>
          <a:p>
            <a:pPr algn="l">
              <a:lnSpc>
                <a:spcPct val="120000"/>
              </a:lnSpc>
              <a:spcAft>
                <a:spcPts val="150"/>
              </a:spcAft>
            </a:pPr>
            <a:r>
              <a:rPr sz="1080" b="0">
                <a:solidFill>
                  <a:srgbClr val="A5B6BA"/>
                </a:solidFill>
                <a:latin typeface="Segoe UI"/>
              </a:rPr>
              <a:t>•  Simulation frames are pure functions of (scenario, seed, tick)</a:t>
            </a:r>
          </a:p>
          <a:p>
            <a:pPr algn="l">
              <a:lnSpc>
                <a:spcPct val="120000"/>
              </a:lnSpc>
              <a:spcAft>
                <a:spcPts val="150"/>
              </a:spcAft>
            </a:pPr>
            <a:r>
              <a:rPr sz="1080" b="0">
                <a:solidFill>
                  <a:srgbClr val="A5B6BA"/>
                </a:solidFill>
                <a:latin typeface="Segoe UI"/>
              </a:rPr>
              <a:t>•  In-memory: restart discards state — stated, not hidden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5566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00" b="0">
                <a:solidFill>
                  <a:srgbClr val="5A6B70"/>
                </a:solidFill>
                <a:latin typeface="Segoe UI"/>
              </a:rPr>
              <a:t>LogInsight Analyzer  ·  KLH_CSE_2026-27_DSA-3_S3_T17_Loginsight-Analyzer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645566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900" b="0">
                <a:solidFill>
                  <a:srgbClr val="5A6B70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1">
                <a:solidFill>
                  <a:srgbClr val="5EEAD4"/>
                </a:solidFill>
                <a:latin typeface="Segoe UI"/>
              </a:rPr>
              <a:t>DSA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900" b="1">
                <a:solidFill>
                  <a:srgbClr val="EDF7F7"/>
                </a:solidFill>
                <a:latin typeface="Segoe UI"/>
              </a:rPr>
              <a:t>The algorithm that labels every event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16736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>
                <a:solidFill>
                  <a:srgbClr val="A5B6BA"/>
                </a:solidFill>
                <a:latin typeface="Segoe UI"/>
              </a:rPr>
              <a:t>Aho-Corasick is what turns raw generated text into a named, evidenced failure signature.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47088"/>
            <a:ext cx="10881360" cy="12801"/>
          </a:xfrm>
          <a:prstGeom prst="rect">
            <a:avLst/>
          </a:prstGeom>
          <a:solidFill>
            <a:srgbClr val="1E2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2157984"/>
            <a:ext cx="5943600" cy="3931920"/>
          </a:xfrm>
          <a:prstGeom prst="roundRect">
            <a:avLst>
              <a:gd name="adj" fmla="val 6000"/>
            </a:avLst>
          </a:prstGeom>
          <a:solidFill>
            <a:srgbClr val="071013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59152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0">
                <a:solidFill>
                  <a:srgbClr val="5EEAD4"/>
                </a:solidFill>
                <a:latin typeface="Consolas"/>
              </a:rPr>
              <a:t>SCAN(root, text):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0">
                <a:solidFill>
                  <a:srgbClr val="C8D7D9"/>
                </a:solidFill>
                <a:latin typeface="Consolas"/>
              </a:rPr>
              <a:t>    state = root; hits = []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0">
                <a:solidFill>
                  <a:srgbClr val="C8D7D9"/>
                </a:solidFill>
                <a:latin typeface="Consolas"/>
              </a:rPr>
              <a:t>    for c in text: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0">
                <a:solidFill>
                  <a:srgbClr val="C8D7D9"/>
                </a:solidFill>
                <a:latin typeface="Consolas"/>
              </a:rPr>
              <a:t>        state = state.next[c]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0">
                <a:solidFill>
                  <a:srgbClr val="C8D7D9"/>
                </a:solidFill>
                <a:latin typeface="Consolas"/>
              </a:rPr>
              <a:t>        for p in state.output: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0">
                <a:solidFill>
                  <a:srgbClr val="5EEAD4"/>
                </a:solidFill>
                <a:latin typeface="Consolas"/>
              </a:rPr>
              <a:t>            hits.add(p)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0">
                <a:solidFill>
                  <a:srgbClr val="C8D7D9"/>
                </a:solidFill>
                <a:latin typeface="Consolas"/>
              </a:rPr>
              <a:t>    return hits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023360"/>
            <a:ext cx="5486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00" b="1">
                <a:solidFill>
                  <a:srgbClr val="5EEAD4"/>
                </a:solidFill>
                <a:latin typeface="Segoe UI"/>
              </a:rPr>
              <a:t>Why it matters here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0">
                <a:solidFill>
                  <a:srgbClr val="A5B6BA"/>
                </a:solidFill>
                <a:latin typeface="Segoe UI"/>
              </a:rPr>
              <a:t>The detector must test every candidate error signature against each incoming record. One search per signature multiplies the cost by the signature count; a single automaton pass is O(n) in the text length no matter how many patterns match.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03136" y="2157984"/>
            <a:ext cx="4736592" cy="3931920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0" y="2359152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5EEAD4"/>
                </a:solidFill>
                <a:latin typeface="Segoe UI"/>
              </a:rPr>
              <a:t>PRODUCTION vs STUDY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2706624"/>
            <a:ext cx="4297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EDF7F7"/>
                </a:solidFill>
                <a:latin typeface="Segoe UI"/>
              </a:rPr>
              <a:t>In the product pipeline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0">
                <a:solidFill>
                  <a:srgbClr val="34D399"/>
                </a:solidFill>
                <a:latin typeface="Segoe UI"/>
              </a:rPr>
              <a:t>KMP — default phrase search and dominant-signature location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0">
                <a:solidFill>
                  <a:srgbClr val="34D399"/>
                </a:solidFill>
                <a:latin typeface="Segoe UI"/>
              </a:rPr>
              <a:t>Aho-Corasick — per-record signature labelling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0">
                <a:solidFill>
                  <a:srgbClr val="34D399"/>
                </a:solidFill>
                <a:latin typeface="Segoe UI"/>
              </a:rPr>
              <a:t>Levenshtein — “did you mean” suggestion ranking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0">
                <a:solidFill>
                  <a:srgbClr val="34D399"/>
                </a:solidFill>
                <a:latin typeface="Segoe UI"/>
              </a:rPr>
              <a:t>Suffix array + Kasai LCP — traceable phrase search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>
                <a:solidFill>
                  <a:srgbClr val="34D399"/>
                </a:solidFill>
                <a:latin typeface="Segoe UI"/>
              </a:rPr>
              <a:t>Reservoir sampling — bounded stream sample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EDF7F7"/>
                </a:solidFill>
                <a:latin typeface="Segoe UI"/>
              </a:rPr>
              <a:t>Exposed for study only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0">
                <a:solidFill>
                  <a:srgbClr val="A5B6BA"/>
                </a:solidFill>
                <a:latin typeface="Segoe UI"/>
              </a:rPr>
              <a:t>Bitmask TSP, Needleman-Wunsch, Dinic flow, vertex-cover kernelization, parallel prefix scan, Miller-Rabin and more — runnable and traceable, deliberately not in the pipeline.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5566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00" b="0">
                <a:solidFill>
                  <a:srgbClr val="5A6B70"/>
                </a:solidFill>
                <a:latin typeface="Segoe UI"/>
              </a:rPr>
              <a:t>LogInsight Analyzer  ·  KLH_CSE_2026-27_DSA-3_S3_T17_Loginsight-Analyzer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5566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900" b="0">
                <a:solidFill>
                  <a:srgbClr val="5A6B70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1">
                <a:solidFill>
                  <a:srgbClr val="5EEAD4"/>
                </a:solidFill>
                <a:latin typeface="Segoe UI"/>
              </a:rPr>
              <a:t>REAL-TIME BEHAVIOUR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900" b="1">
                <a:solidFill>
                  <a:srgbClr val="EDF7F7"/>
                </a:solidFill>
                <a:latin typeface="Segoe UI"/>
              </a:rPr>
              <a:t>Seven declared failure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16736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>
                <a:solidFill>
                  <a:srgbClr val="A5B6BA"/>
                </a:solidFill>
                <a:latin typeface="Segoe UI"/>
              </a:rPr>
              <a:t>A frame is a pure function of scenario, seed and tick. Speed changes delivery pacing only — never event content.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47088"/>
            <a:ext cx="10881360" cy="12801"/>
          </a:xfrm>
          <a:prstGeom prst="rect">
            <a:avLst/>
          </a:prstGeom>
          <a:solidFill>
            <a:srgbClr val="1E2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2157984"/>
            <a:ext cx="3419856" cy="804672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258568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EDF7F7"/>
                </a:solidFill>
                <a:latin typeface="Segoe UI"/>
              </a:rPr>
              <a:t>Traffic Surge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44368" y="226771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950" b="1">
                <a:solidFill>
                  <a:srgbClr val="FBBF24"/>
                </a:solidFill>
                <a:latin typeface="Segoe UI"/>
              </a:rPr>
              <a:t>MINOR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578608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A5B6BA"/>
                </a:solidFill>
                <a:latin typeface="Segoe UI"/>
              </a:rPr>
              <a:t>Marketing push multiplies inbound traffic.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1104" y="2157984"/>
            <a:ext cx="3419856" cy="804672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62272" y="2258568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EDF7F7"/>
                </a:solidFill>
                <a:latin typeface="Segoe UI"/>
              </a:rPr>
              <a:t>Deployment Regression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47104" y="226771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950" b="1">
                <a:solidFill>
                  <a:srgbClr val="FBBF24"/>
                </a:solidFill>
                <a:latin typeface="Segoe UI"/>
              </a:rPr>
              <a:t>MAJOR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62272" y="2578608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A5B6BA"/>
                </a:solidFill>
                <a:latin typeface="Segoe UI"/>
              </a:rPr>
              <a:t>New Payments build, null-handler regression.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090672"/>
            <a:ext cx="3419856" cy="804672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3191256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EDF7F7"/>
                </a:solidFill>
                <a:latin typeface="Segoe UI"/>
              </a:rPr>
              <a:t>Payment Timeout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44368" y="3200400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950" b="1">
                <a:solidFill>
                  <a:srgbClr val="FB7185"/>
                </a:solidFill>
                <a:latin typeface="Segoe UI"/>
              </a:rPr>
              <a:t>CRITICAL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3511296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A5B6BA"/>
                </a:solidFill>
                <a:latin typeface="Segoe UI"/>
              </a:rPr>
              <a:t>Processor accepts connections, stops responding.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61104" y="3090672"/>
            <a:ext cx="3419856" cy="804672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62272" y="3191256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EDF7F7"/>
                </a:solidFill>
                <a:latin typeface="Segoe UI"/>
              </a:rPr>
              <a:t>Checkout 5xx Cascade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3200400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950" b="1">
                <a:solidFill>
                  <a:srgbClr val="FB7185"/>
                </a:solidFill>
                <a:latin typeface="Segoe UI"/>
              </a:rPr>
              <a:t>CRITICAL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62272" y="3511296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A5B6BA"/>
                </a:solidFill>
                <a:latin typeface="Segoe UI"/>
              </a:rPr>
              <a:t>Payment upstream 502s propagate downstream.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151376"/>
            <a:ext cx="2578608" cy="1005840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4297680"/>
            <a:ext cx="22128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50" b="1">
                <a:solidFill>
                  <a:srgbClr val="A5B6BA"/>
                </a:solidFill>
                <a:latin typeface="Segoe UI"/>
              </a:rPr>
              <a:t>DETECTED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" y="4535424"/>
            <a:ext cx="221284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5EEAD4"/>
                </a:solidFill>
                <a:latin typeface="Segoe UI"/>
              </a:rPr>
              <a:t>max(3, 3× baseline)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7" y="4773168"/>
            <a:ext cx="22128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50" b="0">
                <a:solidFill>
                  <a:srgbClr val="7A8C90"/>
                </a:solidFill>
                <a:latin typeface="Segoe UI"/>
              </a:rPr>
              <a:t>five-minute window threshold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46704" y="4151376"/>
            <a:ext cx="2578608" cy="1005840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29584" y="4297680"/>
            <a:ext cx="22128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50" b="1">
                <a:solidFill>
                  <a:srgbClr val="A5B6BA"/>
                </a:solidFill>
                <a:latin typeface="Segoe UI"/>
              </a:rPr>
              <a:t>BLAST RADIUS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29584" y="4535424"/>
            <a:ext cx="221284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60A5FA"/>
                </a:solidFill>
                <a:latin typeface="Segoe UI"/>
              </a:rPr>
              <a:t>BFS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9584" y="4773168"/>
            <a:ext cx="22128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50" b="0">
                <a:solidFill>
                  <a:srgbClr val="7A8C90"/>
                </a:solidFill>
                <a:latin typeface="Segoe UI"/>
              </a:rPr>
              <a:t>reachability, not causation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35040" y="4151376"/>
            <a:ext cx="2578608" cy="1005840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17920" y="4297680"/>
            <a:ext cx="22128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50" b="1">
                <a:solidFill>
                  <a:srgbClr val="A5B6BA"/>
                </a:solidFill>
                <a:latin typeface="Segoe UI"/>
              </a:rPr>
              <a:t>LIFECYCLE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4535424"/>
            <a:ext cx="221284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34D399"/>
                </a:solidFill>
                <a:latin typeface="Segoe UI"/>
              </a:rPr>
              <a:t>5 states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773168"/>
            <a:ext cx="22128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50" b="0">
                <a:solidFill>
                  <a:srgbClr val="7A8C90"/>
                </a:solidFill>
                <a:latin typeface="Segoe UI"/>
              </a:rPr>
              <a:t>forward-only; 409 on illegal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723376" y="4151376"/>
            <a:ext cx="2816352" cy="1005840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06255" y="4297680"/>
            <a:ext cx="24505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50" b="1">
                <a:solidFill>
                  <a:srgbClr val="A5B6BA"/>
                </a:solidFill>
                <a:latin typeface="Segoe UI"/>
              </a:rPr>
              <a:t>DELIVERY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06255" y="4535424"/>
            <a:ext cx="245059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A78BFA"/>
                </a:solidFill>
                <a:latin typeface="Segoe UI"/>
              </a:rPr>
              <a:t>0.25× – 8×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06255" y="4773168"/>
            <a:ext cx="24505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50" b="0">
                <a:solidFill>
                  <a:srgbClr val="7A8C90"/>
                </a:solidFill>
                <a:latin typeface="Segoe UI"/>
              </a:rPr>
              <a:t>pacing only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539496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0">
                <a:solidFill>
                  <a:srgbClr val="A5B6BA"/>
                </a:solidFill>
                <a:latin typeface="Segoe UI"/>
              </a:rPr>
              <a:t>Health bands are fixed heuristic thresholds (healthy &lt; 5%, watch &lt; 10%, elevated ≥ 10% window error rate), described in the interface as thresholds — not as a trained model. Incidents carry no confidence score, because none is computed.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645566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00" b="0">
                <a:solidFill>
                  <a:srgbClr val="5A6B70"/>
                </a:solidFill>
                <a:latin typeface="Segoe UI"/>
              </a:rPr>
              <a:t>LogInsight Analyzer  ·  KLH_CSE_2026-27_DSA-3_S3_T17_Loginsight-Analyzer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607040" y="645566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900" b="0">
                <a:solidFill>
                  <a:srgbClr val="5A6B70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1">
                <a:solidFill>
                  <a:srgbClr val="5EEAD4"/>
                </a:solidFill>
                <a:latin typeface="Segoe UI"/>
              </a:rPr>
              <a:t>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900" b="1">
                <a:solidFill>
                  <a:srgbClr val="EDF7F7"/>
                </a:solidFill>
                <a:latin typeface="Segoe UI"/>
              </a:rPr>
              <a:t>Overview command center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71600"/>
            <a:ext cx="10881360" cy="12801"/>
          </a:xfrm>
          <a:prstGeom prst="rect">
            <a:avLst/>
          </a:prstGeom>
          <a:solidFill>
            <a:srgbClr val="1E2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6273" y="1645920"/>
            <a:ext cx="6905548" cy="43159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646273" y="6053327"/>
            <a:ext cx="69055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7A8C90"/>
                </a:solidFill>
                <a:latin typeface="Segoe UI"/>
              </a:rPr>
              <a:t>Asymmetric by design: telemetry takes the wider column, the incident panel the narrower 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00" b="0">
                <a:solidFill>
                  <a:srgbClr val="5A6B70"/>
                </a:solidFill>
                <a:latin typeface="Segoe UI"/>
              </a:rPr>
              <a:t>LogInsight Analyzer  ·  KLH_CSE_2026-27_DSA-3_S3_T17_Loginsight-Analyzer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5566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900" b="0">
                <a:solidFill>
                  <a:srgbClr val="5A6B70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1">
                <a:solidFill>
                  <a:srgbClr val="5EEAD4"/>
                </a:solidFill>
                <a:latin typeface="Segoe UI"/>
              </a:rPr>
              <a:t>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900" b="1">
                <a:solidFill>
                  <a:srgbClr val="EDF7F7"/>
                </a:solidFill>
                <a:latin typeface="Segoe UI"/>
              </a:rPr>
              <a:t>Scenario Lab — a controlled failure lab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71600"/>
            <a:ext cx="10881360" cy="12801"/>
          </a:xfrm>
          <a:prstGeom prst="rect">
            <a:avLst/>
          </a:prstGeom>
          <a:solidFill>
            <a:srgbClr val="1E2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un-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19072"/>
            <a:ext cx="6349593" cy="39684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5760720"/>
            <a:ext cx="6949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7A8C90"/>
                </a:solidFill>
                <a:latin typeface="Segoe UI"/>
              </a:rPr>
              <a:t>Run in progress: phase, metrics, evidence and incident advance together.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82127" y="1719072"/>
            <a:ext cx="3657600" cy="4023360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19872" y="1938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5EEAD4"/>
                </a:solidFill>
                <a:latin typeface="Segoe UI"/>
              </a:rPr>
              <a:t>READING THE SURFACE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9872" y="2304288"/>
            <a:ext cx="3200400" cy="1314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8000"/>
              </a:lnSpc>
              <a:spcAft>
                <a:spcPts val="900"/>
              </a:spcAft>
            </a:pPr>
            <a:r>
              <a:rPr sz="1150">
                <a:solidFill>
                  <a:srgbClr val="5EEAD4"/>
                </a:solidFill>
                <a:latin typeface="Segoe UI"/>
              </a:rPr>
              <a:t>— </a:t>
            </a:r>
            <a:r>
              <a:rPr sz="1150">
                <a:solidFill>
                  <a:srgbClr val="C8D7D9"/>
                </a:solidFill>
                <a:latin typeface="Segoe UI"/>
              </a:rPr>
              <a:t>Seven scenarios with declared severity and affected services.</a:t>
            </a:r>
          </a:p>
          <a:p>
            <a:pPr>
              <a:lnSpc>
                <a:spcPct val="128000"/>
              </a:lnSpc>
              <a:spcAft>
                <a:spcPts val="900"/>
              </a:spcAft>
            </a:pPr>
            <a:r>
              <a:rPr sz="1150">
                <a:solidFill>
                  <a:srgbClr val="5EEAD4"/>
                </a:solidFill>
                <a:latin typeface="Segoe UI"/>
              </a:rPr>
              <a:t>— </a:t>
            </a:r>
            <a:r>
              <a:rPr sz="1150">
                <a:solidFill>
                  <a:srgbClr val="C8D7D9"/>
                </a:solidFill>
                <a:latin typeface="Segoe UI"/>
              </a:rPr>
              <a:t>Server-Sent Events carry each frame.</a:t>
            </a:r>
          </a:p>
          <a:p>
            <a:pPr>
              <a:lnSpc>
                <a:spcPct val="128000"/>
              </a:lnSpc>
              <a:spcAft>
                <a:spcPts val="900"/>
              </a:spcAft>
            </a:pPr>
            <a:r>
              <a:rPr sz="1150">
                <a:solidFill>
                  <a:srgbClr val="5EEAD4"/>
                </a:solidFill>
                <a:latin typeface="Segoe UI"/>
              </a:rPr>
              <a:t>— </a:t>
            </a:r>
            <a:r>
              <a:rPr sz="1150">
                <a:solidFill>
                  <a:srgbClr val="C8D7D9"/>
                </a:solidFill>
                <a:latin typeface="Segoe UI"/>
              </a:rPr>
              <a:t>Evidence rows name the matcher that produced each signature.</a:t>
            </a:r>
          </a:p>
          <a:p>
            <a:pPr>
              <a:lnSpc>
                <a:spcPct val="128000"/>
              </a:lnSpc>
              <a:spcAft>
                <a:spcPts val="900"/>
              </a:spcAft>
            </a:pPr>
            <a:r>
              <a:rPr sz="1150">
                <a:solidFill>
                  <a:srgbClr val="5EEAD4"/>
                </a:solidFill>
                <a:latin typeface="Segoe UI"/>
              </a:rPr>
              <a:t>— </a:t>
            </a:r>
            <a:r>
              <a:rPr sz="1150">
                <a:solidFill>
                  <a:srgbClr val="C8D7D9"/>
                </a:solidFill>
                <a:latin typeface="Segoe UI"/>
              </a:rPr>
              <a:t>A single provider feeds overview, monitor and workbench.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5566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00" b="0">
                <a:solidFill>
                  <a:srgbClr val="5A6B70"/>
                </a:solidFill>
                <a:latin typeface="Segoe UI"/>
              </a:rPr>
              <a:t>LogInsight Analyzer  ·  KLH_CSE_2026-27_DSA-3_S3_T17_Loginsight-Analyzer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45566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900" b="0">
                <a:solidFill>
                  <a:srgbClr val="5A6B70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1">
                <a:solidFill>
                  <a:srgbClr val="5EEAD4"/>
                </a:solidFill>
                <a:latin typeface="Segoe UI"/>
              </a:rPr>
              <a:t>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900" b="1">
                <a:solidFill>
                  <a:srgbClr val="EDF7F7"/>
                </a:solidFill>
                <a:latin typeface="Segoe UI"/>
              </a:rPr>
              <a:t>Incident Workbench — a digital investigation desk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71600"/>
            <a:ext cx="10881360" cy="12801"/>
          </a:xfrm>
          <a:prstGeom prst="rect">
            <a:avLst/>
          </a:prstGeom>
          <a:solidFill>
            <a:srgbClr val="1E2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cident-workbe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19072"/>
            <a:ext cx="6349593" cy="39684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5760720"/>
            <a:ext cx="7223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7A8C90"/>
                </a:solidFill>
                <a:latin typeface="Segoe UI"/>
              </a:rPr>
              <a:t>Navigator · selected incident · context, at 220–280px / widest / 280px+.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56448" y="1719072"/>
            <a:ext cx="3383280" cy="4023360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94192" y="1938528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5EEAD4"/>
                </a:solidFill>
                <a:latin typeface="Segoe UI"/>
              </a:rPr>
              <a:t>LIFECYCLE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94192" y="226771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050" b="0">
                <a:solidFill>
                  <a:srgbClr val="C8D7D9"/>
                </a:solidFill>
                <a:latin typeface="Segoe UI"/>
              </a:rPr>
              <a:t>DETECTED → INVESTIGATING → ACKNOWLEDGED → MITIGATED → RESOLVED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94192" y="2999232"/>
            <a:ext cx="29260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00" b="0">
                <a:solidFill>
                  <a:srgbClr val="A5B6BA"/>
                </a:solidFill>
                <a:latin typeface="Segoe UI"/>
              </a:rPr>
              <a:t>Forward transitions only. An attempt to move backwards, or to reopen a closed incident, is rejected with HTTP 409 instead of being silently accepted.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0">
                <a:solidFill>
                  <a:srgbClr val="34D399"/>
                </a:solidFill>
                <a:latin typeface="Segoe UI"/>
              </a:rPr>
              <a:t>This was a real defect found during the audit: the endpoint returned 200 and ignored the illegal move, so a client could believe it had closed an incident that was still open.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45566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00" b="0">
                <a:solidFill>
                  <a:srgbClr val="5A6B70"/>
                </a:solidFill>
                <a:latin typeface="Segoe UI"/>
              </a:rPr>
              <a:t>LogInsight Analyzer  ·  KLH_CSE_2026-27_DSA-3_S3_T17_Loginsight-Analyzer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45566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900" b="0">
                <a:solidFill>
                  <a:srgbClr val="5A6B70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1">
                <a:solidFill>
                  <a:srgbClr val="5EEAD4"/>
                </a:solidFill>
                <a:latin typeface="Segoe UI"/>
              </a:rPr>
              <a:t>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900" b="1">
                <a:solidFill>
                  <a:srgbClr val="EDF7F7"/>
                </a:solidFill>
                <a:latin typeface="Segoe UI"/>
              </a:rPr>
              <a:t>Service topology — one graph, two renderers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71600"/>
            <a:ext cx="10881360" cy="12801"/>
          </a:xfrm>
          <a:prstGeom prst="rect">
            <a:avLst/>
          </a:prstGeom>
          <a:solidFill>
            <a:srgbClr val="1E2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opology-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901" y="1682496"/>
            <a:ext cx="5003596" cy="31272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882896"/>
            <a:ext cx="5532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7A8C90"/>
                </a:solidFill>
                <a:latin typeface="Segoe UI"/>
              </a:rPr>
              <a:t>2D — accessible SVG map with paired node/edge list.</a:t>
            </a:r>
          </a:p>
        </p:txBody>
      </p:sp>
      <p:pic>
        <p:nvPicPr>
          <p:cNvPr id="7" name="Picture 6" descr="topology-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045" y="1682496"/>
            <a:ext cx="5003596" cy="31272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72784" y="4882896"/>
            <a:ext cx="5532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7A8C90"/>
                </a:solidFill>
                <a:latin typeface="Segoe UI"/>
              </a:rPr>
              <a:t>3D — lazy-loaded WebGL scene (separate bundle).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340096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100" b="0">
                <a:solidFill>
                  <a:srgbClr val="A5B6BA"/>
                </a:solidFill>
                <a:latin typeface="Segoe UI"/>
              </a:rPr>
              <a:t>Node size is measured event volume; node state is the measured health band — neither encodes importance or request rate. Surfaces state whether edges are OBSERVED request-trail adjacency or DECLARED scenario dependencies.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0">
                <a:solidFill>
                  <a:srgbClr val="C8D7D9"/>
                </a:solidFill>
                <a:latin typeface="Segoe UI"/>
              </a:rPr>
              <a:t>The camera does not auto-rotate or auto-zoom, the loop pauses off-screen or on a hidden tab, and every renderer, geometry, material, observer and listener is disposed on unmount.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5566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00" b="0">
                <a:solidFill>
                  <a:srgbClr val="5A6B70"/>
                </a:solidFill>
                <a:latin typeface="Segoe UI"/>
              </a:rPr>
              <a:t>LogInsight Analyzer  ·  KLH_CSE_2026-27_DSA-3_S3_T17_Loginsight-Analyzer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45566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900" b="0">
                <a:solidFill>
                  <a:srgbClr val="5A6B70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1">
                <a:solidFill>
                  <a:srgbClr val="5EEAD4"/>
                </a:solidFill>
                <a:latin typeface="Segoe UI"/>
              </a:rPr>
              <a:t>DSA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900" b="1">
                <a:solidFill>
                  <a:srgbClr val="EDF7F7"/>
                </a:solidFill>
                <a:latin typeface="Segoe UI"/>
              </a:rPr>
              <a:t>Algorithm catalogue and traceable runs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71600"/>
            <a:ext cx="10881360" cy="12801"/>
          </a:xfrm>
          <a:prstGeom prst="rect">
            <a:avLst/>
          </a:prstGeom>
          <a:solidFill>
            <a:srgbClr val="1E2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lgorithm-ev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6273" y="1645920"/>
            <a:ext cx="6905548" cy="43159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646273" y="6053327"/>
            <a:ext cx="69055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7A8C90"/>
                </a:solidFill>
                <a:latin typeface="Segoe UI"/>
              </a:rPr>
              <a:t>Each technique reports module, query type, time and space complexity, and whether it is exposed or traceable.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00" b="0">
                <a:solidFill>
                  <a:srgbClr val="5A6B70"/>
                </a:solidFill>
                <a:latin typeface="Segoe UI"/>
              </a:rPr>
              <a:t>LogInsight Analyzer  ·  KLH_CSE_2026-27_DSA-3_S3_T17_Loginsight-Analyzer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5566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900" b="0">
                <a:solidFill>
                  <a:srgbClr val="5A6B70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1">
                <a:solidFill>
                  <a:srgbClr val="5EEAD4"/>
                </a:solidFill>
                <a:latin typeface="Segoe UI"/>
              </a:rPr>
              <a:t>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900" b="1">
                <a:solidFill>
                  <a:srgbClr val="EDF7F7"/>
                </a:solidFill>
                <a:latin typeface="Segoe UI"/>
              </a:rPr>
              <a:t>Claims that are measured, not asserted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16736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>
                <a:solidFill>
                  <a:srgbClr val="A5B6BA"/>
                </a:solidFill>
                <a:latin typeface="Segoe UI"/>
              </a:rPr>
              <a:t>Reproducible from the repository: CI runs the same three commands on every push to main.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47088"/>
            <a:ext cx="10881360" cy="12801"/>
          </a:xfrm>
          <a:prstGeom prst="rect">
            <a:avLst/>
          </a:prstGeom>
          <a:solidFill>
            <a:srgbClr val="1E2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2157984"/>
            <a:ext cx="2578608" cy="1115568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2304288"/>
            <a:ext cx="22128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50" b="1">
                <a:solidFill>
                  <a:srgbClr val="A5B6BA"/>
                </a:solidFill>
                <a:latin typeface="Segoe UI"/>
              </a:rPr>
              <a:t>BACKEND TESTS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542032"/>
            <a:ext cx="221284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5EEAD4"/>
                </a:solidFill>
                <a:latin typeface="Segoe UI"/>
              </a:rPr>
              <a:t>873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889504"/>
            <a:ext cx="22128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50" b="0">
                <a:solidFill>
                  <a:srgbClr val="7A8C90"/>
                </a:solidFill>
                <a:latin typeface="Segoe UI"/>
              </a:rPr>
              <a:t>0 failures · 0 errors · 0 skipped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9856" y="2157984"/>
            <a:ext cx="2578608" cy="1115568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2736" y="2304288"/>
            <a:ext cx="22128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50" b="1">
                <a:solidFill>
                  <a:srgbClr val="A5B6BA"/>
                </a:solidFill>
                <a:latin typeface="Segoe UI"/>
              </a:rPr>
              <a:t>FRONTEND TESTS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2736" y="2542032"/>
            <a:ext cx="221284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60A5FA"/>
                </a:solidFill>
                <a:latin typeface="Segoe UI"/>
              </a:rPr>
              <a:t>53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2736" y="2889504"/>
            <a:ext cx="22128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50" b="0">
                <a:solidFill>
                  <a:srgbClr val="7A8C90"/>
                </a:solidFill>
                <a:latin typeface="Segoe UI"/>
              </a:rPr>
              <a:t>across 17 files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1344" y="2157984"/>
            <a:ext cx="2578608" cy="1115568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224" y="2304288"/>
            <a:ext cx="22128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50" b="1">
                <a:solidFill>
                  <a:srgbClr val="A5B6BA"/>
                </a:solidFill>
                <a:latin typeface="Segoe UI"/>
              </a:rPr>
              <a:t>CONSOLE ERRORS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224" y="2542032"/>
            <a:ext cx="221284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34D399"/>
                </a:solidFill>
                <a:latin typeface="Segoe UI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4224" y="2889504"/>
            <a:ext cx="22128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50" b="0">
                <a:solidFill>
                  <a:srgbClr val="7A8C90"/>
                </a:solidFill>
                <a:latin typeface="Segoe UI"/>
              </a:rPr>
              <a:t>every route, every viewport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42832" y="2157984"/>
            <a:ext cx="2578608" cy="1115568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25712" y="2304288"/>
            <a:ext cx="22128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50" b="1">
                <a:solidFill>
                  <a:srgbClr val="A5B6BA"/>
                </a:solidFill>
                <a:latin typeface="Segoe UI"/>
              </a:rPr>
              <a:t>CONTRAST FAILURES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25712" y="2542032"/>
            <a:ext cx="221284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34D399"/>
                </a:solidFill>
                <a:latin typeface="Segoe UI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25712" y="2889504"/>
            <a:ext cx="22128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50" b="0">
                <a:solidFill>
                  <a:srgbClr val="7A8C90"/>
                </a:solidFill>
                <a:latin typeface="Segoe UI"/>
              </a:rPr>
              <a:t>measured vs 4.5:1 requirement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3493008"/>
            <a:ext cx="5358384" cy="2432304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369417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5EEAD4"/>
                </a:solidFill>
                <a:latin typeface="Segoe UI"/>
              </a:rPr>
              <a:t>STABILITY UNDER REPETITION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4023360"/>
            <a:ext cx="4882896" cy="12639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8000"/>
              </a:lnSpc>
              <a:spcAft>
                <a:spcPts val="800"/>
              </a:spcAft>
            </a:pPr>
            <a:r>
              <a:rPr sz="1150">
                <a:solidFill>
                  <a:srgbClr val="5EEAD4"/>
                </a:solidFill>
                <a:latin typeface="Segoe UI"/>
              </a:rPr>
              <a:t>— </a:t>
            </a:r>
            <a:r>
              <a:rPr sz="1150">
                <a:solidFill>
                  <a:srgbClr val="C8D7D9"/>
                </a:solidFill>
                <a:latin typeface="Segoe UI"/>
              </a:rPr>
              <a:t>5× 2D↔3D switching: exactly one canvas, flat DOM and heap.</a:t>
            </a:r>
          </a:p>
          <a:p>
            <a:pPr>
              <a:lnSpc>
                <a:spcPct val="128000"/>
              </a:lnSpc>
              <a:spcAft>
                <a:spcPts val="800"/>
              </a:spcAft>
            </a:pPr>
            <a:r>
              <a:rPr sz="1150">
                <a:solidFill>
                  <a:srgbClr val="5EEAD4"/>
                </a:solidFill>
                <a:latin typeface="Segoe UI"/>
              </a:rPr>
              <a:t>— </a:t>
            </a:r>
            <a:r>
              <a:rPr sz="1150">
                <a:solidFill>
                  <a:srgbClr val="C8D7D9"/>
                </a:solidFill>
                <a:latin typeface="Segoe UI"/>
              </a:rPr>
              <a:t>3× start/stop: event buffer bounded at 40 rows.</a:t>
            </a:r>
          </a:p>
          <a:p>
            <a:pPr>
              <a:lnSpc>
                <a:spcPct val="128000"/>
              </a:lnSpc>
              <a:spcAft>
                <a:spcPts val="800"/>
              </a:spcAft>
            </a:pPr>
            <a:r>
              <a:rPr sz="1150">
                <a:solidFill>
                  <a:srgbClr val="5EEAD4"/>
                </a:solidFill>
                <a:latin typeface="Segoe UI"/>
              </a:rPr>
              <a:t>— </a:t>
            </a:r>
            <a:r>
              <a:rPr sz="1150">
                <a:solidFill>
                  <a:srgbClr val="C8D7D9"/>
                </a:solidFill>
                <a:latin typeface="Segoe UI"/>
              </a:rPr>
              <a:t>12 route changes: identical DOM, zero leaked canvases.</a:t>
            </a:r>
          </a:p>
          <a:p>
            <a:pPr>
              <a:lnSpc>
                <a:spcPct val="128000"/>
              </a:lnSpc>
              <a:spcAft>
                <a:spcPts val="800"/>
              </a:spcAft>
            </a:pPr>
            <a:r>
              <a:rPr sz="1150">
                <a:solidFill>
                  <a:srgbClr val="5EEAD4"/>
                </a:solidFill>
                <a:latin typeface="Segoe UI"/>
              </a:rPr>
              <a:t>— </a:t>
            </a:r>
            <a:r>
              <a:rPr sz="1150">
                <a:solidFill>
                  <a:srgbClr val="C8D7D9"/>
                </a:solidFill>
                <a:latin typeface="Segoe UI"/>
              </a:rPr>
              <a:t>No horizontal overflow at 5 viewports, 1440→390.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1344" y="3493008"/>
            <a:ext cx="5358384" cy="2432304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9088" y="369417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5EEAD4"/>
                </a:solidFill>
                <a:latin typeface="Segoe UI"/>
              </a:rPr>
              <a:t>ACCESSIBILITY FLOOR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19088" y="4023360"/>
            <a:ext cx="4882896" cy="12639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8000"/>
              </a:lnSpc>
              <a:spcAft>
                <a:spcPts val="800"/>
              </a:spcAft>
            </a:pPr>
            <a:r>
              <a:rPr sz="1150">
                <a:solidFill>
                  <a:srgbClr val="5EEAD4"/>
                </a:solidFill>
                <a:latin typeface="Segoe UI"/>
              </a:rPr>
              <a:t>— </a:t>
            </a:r>
            <a:r>
              <a:rPr sz="1150">
                <a:solidFill>
                  <a:srgbClr val="C8D7D9"/>
                </a:solidFill>
                <a:latin typeface="Segoe UI"/>
              </a:rPr>
              <a:t>Minimum 10px text (root is 14px, so 0.72rem = 10.08px).</a:t>
            </a:r>
          </a:p>
          <a:p>
            <a:pPr>
              <a:lnSpc>
                <a:spcPct val="128000"/>
              </a:lnSpc>
              <a:spcAft>
                <a:spcPts val="800"/>
              </a:spcAft>
            </a:pPr>
            <a:r>
              <a:rPr sz="1150">
                <a:solidFill>
                  <a:srgbClr val="5EEAD4"/>
                </a:solidFill>
                <a:latin typeface="Segoe UI"/>
              </a:rPr>
              <a:t>— </a:t>
            </a:r>
            <a:r>
              <a:rPr sz="1150">
                <a:solidFill>
                  <a:srgbClr val="C8D7D9"/>
                </a:solidFill>
                <a:latin typeface="Segoe UI"/>
              </a:rPr>
              <a:t>Minimum 24×24px targets; 32px on touch viewports.</a:t>
            </a:r>
          </a:p>
          <a:p>
            <a:pPr>
              <a:lnSpc>
                <a:spcPct val="128000"/>
              </a:lnSpc>
              <a:spcAft>
                <a:spcPts val="800"/>
              </a:spcAft>
            </a:pPr>
            <a:r>
              <a:rPr sz="1150">
                <a:solidFill>
                  <a:srgbClr val="5EEAD4"/>
                </a:solidFill>
                <a:latin typeface="Segoe UI"/>
              </a:rPr>
              <a:t>— </a:t>
            </a:r>
            <a:r>
              <a:rPr sz="1150">
                <a:solidFill>
                  <a:srgbClr val="C8D7D9"/>
                </a:solidFill>
                <a:latin typeface="Segoe UI"/>
              </a:rPr>
              <a:t>2px focus ring on every keyboard stop.</a:t>
            </a:r>
          </a:p>
          <a:p>
            <a:pPr>
              <a:lnSpc>
                <a:spcPct val="128000"/>
              </a:lnSpc>
              <a:spcAft>
                <a:spcPts val="800"/>
              </a:spcAft>
            </a:pPr>
            <a:r>
              <a:rPr sz="1150">
                <a:solidFill>
                  <a:srgbClr val="5EEAD4"/>
                </a:solidFill>
                <a:latin typeface="Segoe UI"/>
              </a:rPr>
              <a:t>— </a:t>
            </a:r>
            <a:r>
              <a:rPr sz="1150">
                <a:solidFill>
                  <a:srgbClr val="C8D7D9"/>
                </a:solidFill>
                <a:latin typeface="Segoe UI"/>
              </a:rPr>
              <a:t>Colour never carries meaning alone.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5566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00" b="0">
                <a:solidFill>
                  <a:srgbClr val="5A6B70"/>
                </a:solidFill>
                <a:latin typeface="Segoe UI"/>
              </a:rPr>
              <a:t>LogInsight Analyzer  ·  KLH_CSE_2026-27_DSA-3_S3_T17_Loginsight-Analyzer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645566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900" b="0">
                <a:solidFill>
                  <a:srgbClr val="5A6B70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1">
                <a:solidFill>
                  <a:srgbClr val="5EEAD4"/>
                </a:solidFill>
                <a:latin typeface="Segoe UI"/>
              </a:rPr>
              <a:t>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900" b="1">
                <a:solidFill>
                  <a:srgbClr val="EDF7F7"/>
                </a:solidFill>
                <a:latin typeface="Segoe UI"/>
              </a:rPr>
              <a:t>Restructured, not scaled down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71600"/>
            <a:ext cx="10881360" cy="12801"/>
          </a:xfrm>
          <a:prstGeom prst="rect">
            <a:avLst/>
          </a:prstGeom>
          <a:solidFill>
            <a:srgbClr val="1E2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ablet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73936"/>
            <a:ext cx="5029200" cy="37719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61898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7A8C90"/>
                </a:solidFill>
                <a:latin typeface="Segoe UI"/>
              </a:rPr>
              <a:t>1024 × 768</a:t>
            </a:r>
          </a:p>
        </p:txBody>
      </p:sp>
      <p:pic>
        <p:nvPicPr>
          <p:cNvPr id="7" name="Picture 6" descr="mobile-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645920"/>
            <a:ext cx="1833783" cy="396849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0" y="568756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7A8C90"/>
                </a:solidFill>
                <a:latin typeface="Segoe UI"/>
              </a:rPr>
              <a:t>390 × 844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0" y="1773936"/>
            <a:ext cx="2029968" cy="3840480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0928" y="193852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50" b="1">
                <a:solidFill>
                  <a:srgbClr val="5EEAD4"/>
                </a:solidFill>
                <a:latin typeface="Segoe UI"/>
              </a:rPr>
              <a:t>AT 390px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10928" y="2267712"/>
            <a:ext cx="1700784" cy="1064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8000"/>
              </a:lnSpc>
              <a:spcAft>
                <a:spcPts val="600"/>
              </a:spcAft>
            </a:pPr>
            <a:r>
              <a:rPr sz="1000">
                <a:solidFill>
                  <a:srgbClr val="5EEAD4"/>
                </a:solidFill>
                <a:latin typeface="Segoe UI"/>
              </a:rPr>
              <a:t>— </a:t>
            </a:r>
            <a:r>
              <a:rPr sz="1000">
                <a:solidFill>
                  <a:srgbClr val="C8D7D9"/>
                </a:solidFill>
                <a:latin typeface="Segoe UI"/>
              </a:rPr>
              <a:t>Single column in priority order.</a:t>
            </a:r>
          </a:p>
          <a:p>
            <a:pPr>
              <a:lnSpc>
                <a:spcPct val="128000"/>
              </a:lnSpc>
              <a:spcAft>
                <a:spcPts val="600"/>
              </a:spcAft>
            </a:pPr>
            <a:r>
              <a:rPr sz="1000">
                <a:solidFill>
                  <a:srgbClr val="5EEAD4"/>
                </a:solidFill>
                <a:latin typeface="Segoe UI"/>
              </a:rPr>
              <a:t>— </a:t>
            </a:r>
            <a:r>
              <a:rPr sz="1000">
                <a:solidFill>
                  <a:srgbClr val="C8D7D9"/>
                </a:solidFill>
                <a:latin typeface="Segoe UI"/>
              </a:rPr>
              <a:t>Nav collapses to a drawer.</a:t>
            </a:r>
          </a:p>
          <a:p>
            <a:pPr>
              <a:lnSpc>
                <a:spcPct val="128000"/>
              </a:lnSpc>
              <a:spcAft>
                <a:spcPts val="600"/>
              </a:spcAft>
            </a:pPr>
            <a:r>
              <a:rPr sz="1000">
                <a:solidFill>
                  <a:srgbClr val="5EEAD4"/>
                </a:solidFill>
                <a:latin typeface="Segoe UI"/>
              </a:rPr>
              <a:t>— </a:t>
            </a:r>
            <a:r>
              <a:rPr sz="1000">
                <a:solidFill>
                  <a:srgbClr val="C8D7D9"/>
                </a:solidFill>
                <a:latin typeface="Segoe UI"/>
              </a:rPr>
              <a:t>Tables scroll inside their own box.</a:t>
            </a:r>
          </a:p>
          <a:p>
            <a:pPr>
              <a:lnSpc>
                <a:spcPct val="128000"/>
              </a:lnSpc>
              <a:spcAft>
                <a:spcPts val="600"/>
              </a:spcAft>
            </a:pPr>
            <a:r>
              <a:rPr sz="1000">
                <a:solidFill>
                  <a:srgbClr val="5EEAD4"/>
                </a:solidFill>
                <a:latin typeface="Segoe UI"/>
              </a:rPr>
              <a:t>— </a:t>
            </a:r>
            <a:r>
              <a:rPr sz="1000">
                <a:solidFill>
                  <a:srgbClr val="C8D7D9"/>
                </a:solidFill>
                <a:latin typeface="Segoe UI"/>
              </a:rPr>
              <a:t>Targets grow to 32px.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5566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00" b="0">
                <a:solidFill>
                  <a:srgbClr val="5A6B70"/>
                </a:solidFill>
                <a:latin typeface="Segoe UI"/>
              </a:rPr>
              <a:t>LogInsight Analyzer  ·  KLH_CSE_2026-27_DSA-3_S3_T17_Loginsight-Analyzer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5566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900" b="0">
                <a:solidFill>
                  <a:srgbClr val="5A6B70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1">
                <a:solidFill>
                  <a:srgbClr val="5EEAD4"/>
                </a:solidFill>
                <a:latin typeface="Segoe UI"/>
              </a:rP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900" b="1">
                <a:solidFill>
                  <a:srgbClr val="EDF7F7"/>
                </a:solidFill>
                <a:latin typeface="Segoe UI"/>
              </a:rPr>
              <a:t>Stated plainly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71600"/>
            <a:ext cx="10881360" cy="12801"/>
          </a:xfrm>
          <a:prstGeom prst="rect">
            <a:avLst/>
          </a:prstGeom>
          <a:solidFill>
            <a:srgbClr val="1E2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719072"/>
            <a:ext cx="2679192" cy="3200400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19072"/>
            <a:ext cx="2679192" cy="27432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1938528"/>
            <a:ext cx="22768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EDF7F7"/>
                </a:solidFill>
                <a:latin typeface="Segoe UI"/>
              </a:rPr>
              <a:t>In-memory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340864"/>
            <a:ext cx="2276856" cy="888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8000"/>
              </a:lnSpc>
              <a:spcAft>
                <a:spcPts val="700"/>
              </a:spcAft>
            </a:pPr>
            <a:r>
              <a:rPr sz="1050">
                <a:solidFill>
                  <a:srgbClr val="FB7185"/>
                </a:solidFill>
                <a:latin typeface="Segoe UI"/>
              </a:rPr>
              <a:t>— </a:t>
            </a:r>
            <a:r>
              <a:rPr sz="1050">
                <a:solidFill>
                  <a:srgbClr val="C8D7D9"/>
                </a:solidFill>
                <a:latin typeface="Segoe UI"/>
              </a:rPr>
              <a:t>Single JVM; no durable storage.</a:t>
            </a:r>
          </a:p>
          <a:p>
            <a:pPr>
              <a:lnSpc>
                <a:spcPct val="128000"/>
              </a:lnSpc>
              <a:spcAft>
                <a:spcPts val="700"/>
              </a:spcAft>
            </a:pPr>
            <a:r>
              <a:rPr sz="1050">
                <a:solidFill>
                  <a:srgbClr val="FB7185"/>
                </a:solidFill>
                <a:latin typeface="Segoe UI"/>
              </a:rPr>
              <a:t>— </a:t>
            </a:r>
            <a:r>
              <a:rPr sz="1050">
                <a:solidFill>
                  <a:srgbClr val="C8D7D9"/>
                </a:solidFill>
                <a:latin typeface="Segoe UI"/>
              </a:rPr>
              <a:t>Restart discards the dataset and any running stream.</a:t>
            </a:r>
          </a:p>
          <a:p>
            <a:pPr>
              <a:lnSpc>
                <a:spcPct val="128000"/>
              </a:lnSpc>
              <a:spcAft>
                <a:spcPts val="700"/>
              </a:spcAft>
            </a:pPr>
            <a:r>
              <a:rPr sz="1050">
                <a:solidFill>
                  <a:srgbClr val="FB7185"/>
                </a:solidFill>
                <a:latin typeface="Segoe UI"/>
              </a:rPr>
              <a:t>— </a:t>
            </a:r>
            <a:r>
              <a:rPr sz="1050">
                <a:solidFill>
                  <a:srgbClr val="C8D7D9"/>
                </a:solidFill>
                <a:latin typeface="Segoe UI"/>
              </a:rPr>
              <a:t>Not a multi-node deployment.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83864" y="1719072"/>
            <a:ext cx="2679192" cy="3200400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83864" y="1719072"/>
            <a:ext cx="2679192" cy="2743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85032" y="1938528"/>
            <a:ext cx="22768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EDF7F7"/>
                </a:solidFill>
                <a:latin typeface="Segoe UI"/>
              </a:rPr>
              <a:t>Generated traffic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85032" y="2340864"/>
            <a:ext cx="2276856" cy="6289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8000"/>
              </a:lnSpc>
              <a:spcAft>
                <a:spcPts val="700"/>
              </a:spcAft>
            </a:pPr>
            <a:r>
              <a:rPr sz="1050">
                <a:solidFill>
                  <a:srgbClr val="FBBF24"/>
                </a:solidFill>
                <a:latin typeface="Segoe UI"/>
              </a:rPr>
              <a:t>— </a:t>
            </a:r>
            <a:r>
              <a:rPr sz="1050">
                <a:solidFill>
                  <a:srgbClr val="C8D7D9"/>
                </a:solidFill>
                <a:latin typeface="Segoe UI"/>
              </a:rPr>
              <a:t>Simulation is deterministic and labelled generated.</a:t>
            </a:r>
          </a:p>
          <a:p>
            <a:pPr>
              <a:lnSpc>
                <a:spcPct val="128000"/>
              </a:lnSpc>
              <a:spcAft>
                <a:spcPts val="700"/>
              </a:spcAft>
            </a:pPr>
            <a:r>
              <a:rPr sz="1050">
                <a:solidFill>
                  <a:srgbClr val="FBBF24"/>
                </a:solidFill>
                <a:latin typeface="Segoe UI"/>
              </a:rPr>
              <a:t>— </a:t>
            </a:r>
            <a:r>
              <a:rPr sz="1050">
                <a:solidFill>
                  <a:srgbClr val="C8D7D9"/>
                </a:solidFill>
                <a:latin typeface="Segoe UI"/>
              </a:rPr>
              <a:t>Not evidence about any real system.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719072"/>
            <a:ext cx="2679192" cy="3200400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719072"/>
            <a:ext cx="2679192" cy="27432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938528"/>
            <a:ext cx="22768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EDF7F7"/>
                </a:solidFill>
                <a:latin typeface="Segoe UI"/>
              </a:rPr>
              <a:t>Heuristics, not 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340864"/>
            <a:ext cx="2276856" cy="888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8000"/>
              </a:lnSpc>
              <a:spcAft>
                <a:spcPts val="700"/>
              </a:spcAft>
            </a:pPr>
            <a:r>
              <a:rPr sz="1050">
                <a:solidFill>
                  <a:srgbClr val="60A5FA"/>
                </a:solidFill>
                <a:latin typeface="Segoe UI"/>
              </a:rPr>
              <a:t>— </a:t>
            </a:r>
            <a:r>
              <a:rPr sz="1050">
                <a:solidFill>
                  <a:srgbClr val="C8D7D9"/>
                </a:solidFill>
                <a:latin typeface="Segoe UI"/>
              </a:rPr>
              <a:t>Fixed thresholds, no trained model.</a:t>
            </a:r>
          </a:p>
          <a:p>
            <a:pPr>
              <a:lnSpc>
                <a:spcPct val="128000"/>
              </a:lnSpc>
              <a:spcAft>
                <a:spcPts val="700"/>
              </a:spcAft>
            </a:pPr>
            <a:r>
              <a:rPr sz="1050">
                <a:solidFill>
                  <a:srgbClr val="60A5FA"/>
                </a:solidFill>
                <a:latin typeface="Segoe UI"/>
              </a:rPr>
              <a:t>— </a:t>
            </a:r>
            <a:r>
              <a:rPr sz="1050">
                <a:solidFill>
                  <a:srgbClr val="C8D7D9"/>
                </a:solidFill>
                <a:latin typeface="Segoe UI"/>
              </a:rPr>
              <a:t>No confidence score, because none is computed.</a:t>
            </a:r>
          </a:p>
          <a:p>
            <a:pPr>
              <a:lnSpc>
                <a:spcPct val="128000"/>
              </a:lnSpc>
              <a:spcAft>
                <a:spcPts val="700"/>
              </a:spcAft>
            </a:pPr>
            <a:r>
              <a:rPr sz="1050">
                <a:solidFill>
                  <a:srgbClr val="60A5FA"/>
                </a:solidFill>
                <a:latin typeface="Segoe UI"/>
              </a:rPr>
              <a:t>— </a:t>
            </a:r>
            <a:r>
              <a:rPr sz="1050">
                <a:solidFill>
                  <a:srgbClr val="C8D7D9"/>
                </a:solidFill>
                <a:latin typeface="Segoe UI"/>
              </a:rPr>
              <a:t>Blast radius is reachability, not root cause.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34856" y="1719072"/>
            <a:ext cx="2679192" cy="3200400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34856" y="1719072"/>
            <a:ext cx="2679192" cy="27432"/>
          </a:xfrm>
          <a:prstGeom prst="rect">
            <a:avLst/>
          </a:prstGeom>
          <a:solidFill>
            <a:srgbClr val="A5B6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6024" y="1938528"/>
            <a:ext cx="22768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EDF7F7"/>
                </a:solidFill>
                <a:latin typeface="Segoe UI"/>
              </a:rPr>
              <a:t>Bounded history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6024" y="2340864"/>
            <a:ext cx="2276856" cy="888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8000"/>
              </a:lnSpc>
              <a:spcAft>
                <a:spcPts val="700"/>
              </a:spcAft>
            </a:pPr>
            <a:r>
              <a:rPr sz="1050">
                <a:solidFill>
                  <a:srgbClr val="A5B6BA"/>
                </a:solidFill>
                <a:latin typeface="Segoe UI"/>
              </a:rPr>
              <a:t>— </a:t>
            </a:r>
            <a:r>
              <a:rPr sz="1050">
                <a:solidFill>
                  <a:srgbClr val="C8D7D9"/>
                </a:solidFill>
                <a:latin typeface="Segoe UI"/>
              </a:rPr>
              <a:t>Run history, buffers and trace steps are capped.</a:t>
            </a:r>
          </a:p>
          <a:p>
            <a:pPr>
              <a:lnSpc>
                <a:spcPct val="128000"/>
              </a:lnSpc>
              <a:spcAft>
                <a:spcPts val="700"/>
              </a:spcAft>
            </a:pPr>
            <a:r>
              <a:rPr sz="1050">
                <a:solidFill>
                  <a:srgbClr val="A5B6BA"/>
                </a:solidFill>
                <a:latin typeface="Segoe UI"/>
              </a:rPr>
              <a:t>— </a:t>
            </a:r>
            <a:r>
              <a:rPr sz="1050">
                <a:solidFill>
                  <a:srgbClr val="C8D7D9"/>
                </a:solidFill>
                <a:latin typeface="Segoe UI"/>
              </a:rPr>
              <a:t>Protects memory at the cost of depth.</a:t>
            </a:r>
          </a:p>
          <a:p>
            <a:pPr>
              <a:lnSpc>
                <a:spcPct val="128000"/>
              </a:lnSpc>
              <a:spcAft>
                <a:spcPts val="700"/>
              </a:spcAft>
            </a:pPr>
            <a:r>
              <a:rPr sz="1050">
                <a:solidFill>
                  <a:srgbClr val="A5B6BA"/>
                </a:solidFill>
                <a:latin typeface="Segoe UI"/>
              </a:rPr>
              <a:t>— </a:t>
            </a:r>
            <a:r>
              <a:rPr sz="1050">
                <a:solidFill>
                  <a:srgbClr val="C8D7D9"/>
                </a:solidFill>
                <a:latin typeface="Segoe UI"/>
              </a:rPr>
              <a:t>Compose validated for syntax only.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12064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0">
                <a:solidFill>
                  <a:srgbClr val="A5B6BA"/>
                </a:solidFill>
                <a:latin typeface="Segoe UI"/>
              </a:rPr>
              <a:t>The project is academic software. Its shape is defensible for a single-node demonstration and is not presented as production scale.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5566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00" b="0">
                <a:solidFill>
                  <a:srgbClr val="5A6B70"/>
                </a:solidFill>
                <a:latin typeface="Segoe UI"/>
              </a:rPr>
              <a:t>LogInsight Analyzer  ·  KLH_CSE_2026-27_DSA-3_S3_T17_Loginsight-Analyzer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45566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900" b="0">
                <a:solidFill>
                  <a:srgbClr val="5A6B70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1">
                <a:solidFill>
                  <a:srgbClr val="5EEAD4"/>
                </a:solidFill>
                <a:latin typeface="Segoe UI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900" b="1">
                <a:solidFill>
                  <a:srgbClr val="EDF7F7"/>
                </a:solidFill>
                <a:latin typeface="Segoe UI"/>
              </a:rPr>
              <a:t>Classical algorithms, applied honestly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71600"/>
            <a:ext cx="10881360" cy="12801"/>
          </a:xfrm>
          <a:prstGeom prst="rect">
            <a:avLst/>
          </a:prstGeom>
          <a:solidFill>
            <a:srgbClr val="1E2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700784"/>
            <a:ext cx="10881360" cy="987552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00784"/>
            <a:ext cx="32004" cy="987552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1">
                <a:solidFill>
                  <a:srgbClr val="EDF7F7"/>
                </a:solidFill>
                <a:latin typeface="Segoe UI"/>
              </a:rPr>
              <a:t>The DSA is load-bearing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76272"/>
            <a:ext cx="103327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A5B6BA"/>
                </a:solidFill>
                <a:latin typeface="Segoe UI"/>
              </a:rPr>
              <a:t>KMP, Aho-Corasick, Levenshtein, BFS and fixed-window detection run in the product pipeline — not only in a demo folder.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834640"/>
            <a:ext cx="10881360" cy="987552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2834640"/>
            <a:ext cx="32004" cy="987552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96265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1">
                <a:solidFill>
                  <a:srgbClr val="EDF7F7"/>
                </a:solidFill>
                <a:latin typeface="Segoe UI"/>
              </a:rPr>
              <a:t>Provenance is visible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10128"/>
            <a:ext cx="103327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A5B6BA"/>
                </a:solidFill>
                <a:latin typeface="Segoe UI"/>
              </a:rPr>
              <a:t>Dataset replay and generated simulation are labelled apart; observed and declared edges are distinguished on every surface.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968496"/>
            <a:ext cx="10881360" cy="987552"/>
          </a:xfrm>
          <a:prstGeom prst="roundRect">
            <a:avLst>
              <a:gd name="adj" fmla="val 6000"/>
            </a:avLst>
          </a:prstGeom>
          <a:solidFill>
            <a:srgbClr val="0B1418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3968496"/>
            <a:ext cx="32004" cy="987552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096511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1">
                <a:solidFill>
                  <a:srgbClr val="EDF7F7"/>
                </a:solidFill>
                <a:latin typeface="Segoe UI"/>
              </a:rPr>
              <a:t>The numbers are reproducible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43983"/>
            <a:ext cx="103327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A5B6BA"/>
                </a:solidFill>
                <a:latin typeface="Segoe UI"/>
              </a:rPr>
              <a:t>873 backend tests, 53 frontend tests, green CI, and a browser pass with zero console errors and zero contrast failures.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157216"/>
            <a:ext cx="10881360" cy="822960"/>
          </a:xfrm>
          <a:prstGeom prst="roundRect">
            <a:avLst>
              <a:gd name="adj" fmla="val 6000"/>
            </a:avLst>
          </a:prstGeom>
          <a:solidFill>
            <a:srgbClr val="071013"/>
          </a:solidFill>
          <a:ln w="9525">
            <a:solidFill>
              <a:srgbClr val="1E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3035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A5B6BA"/>
                </a:solidFill>
                <a:latin typeface="Segoe UI"/>
              </a:rPr>
              <a:t>Repository:  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5EEAD4"/>
                </a:solidFill>
                <a:latin typeface="Consolas"/>
              </a:rPr>
              <a:t>github.com/karkalashivareddy/KLH_CSE_2026-27_DSA-3_S3_T17_Loginsight-Analyzer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5566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00" b="0">
                <a:solidFill>
                  <a:srgbClr val="5A6B70"/>
                </a:solidFill>
                <a:latin typeface="Segoe UI"/>
              </a:rPr>
              <a:t>LogInsight Analyzer  ·  KLH_CSE_2026-27_DSA-3_S3_T17_Loginsight-Analyzer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5566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900" b="0">
                <a:solidFill>
                  <a:srgbClr val="5A6B70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87168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4200" b="1">
                <a:solidFill>
                  <a:srgbClr val="EDF7F7"/>
                </a:solidFill>
                <a:latin typeface="Segoe U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>
                <a:solidFill>
                  <a:srgbClr val="A5B6BA"/>
                </a:solidFill>
                <a:latin typeface="Segoe UI"/>
              </a:rPr>
              <a:t>Questions are welcome — particularly on the algorithm choices and the honesty constraints.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4261104"/>
            <a:ext cx="1371600" cy="1828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17136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C8D7D9"/>
                </a:solidFill>
                <a:latin typeface="Segoe UI"/>
              </a:rPr>
              <a:t>KARKALA SHIVA REDDY  ·  2520030105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1">
                <a:solidFill>
                  <a:srgbClr val="C8D7D9"/>
                </a:solidFill>
                <a:latin typeface="Segoe UI"/>
              </a:rPr>
              <a:t>PARIPALLI NAVADEEP  ·  2520030196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A5B6BA"/>
                </a:solidFill>
                <a:latin typeface="Segoe UI"/>
              </a:rPr>
              <a:t>Dr. J Sirisha Devi  ·  Department of Computer Science and Engineering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