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47504" y="246888"/>
            <a:ext cx="2048255" cy="1135493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8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402336"/>
            <a:ext cx="1737360" cy="824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72768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5EEAD4"/>
                </a:solidFill>
                <a:latin typeface="Segoe UI"/>
              </a:rPr>
              <a:t>DATA STRUCTURES AND ALGORITHMS-3  ·  25CS2103E  · 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800" b="1">
                <a:solidFill>
                  <a:srgbClr val="EDF7F7"/>
                </a:solidFill>
                <a:latin typeface="Segoe UI"/>
              </a:rPr>
              <a:t>LogInsight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10058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900" b="0">
                <a:solidFill>
                  <a:srgbClr val="C8D7D9"/>
                </a:solidFill>
                <a:latin typeface="Segoe UI"/>
              </a:rPr>
              <a:t>Real-Time Log Intelligence and Incident Investigation using Classical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58768"/>
            <a:ext cx="1371600" cy="1828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9663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EDF7F7"/>
                </a:solidFill>
                <a:latin typeface="Segoe UI"/>
              </a:rPr>
              <a:t>KARKALA SHIVA REDDY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A5B6BA"/>
                </a:solidFill>
                <a:latin typeface="Segoe UI"/>
              </a:rPr>
              <a:t>2520030105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EDF7F7"/>
                </a:solidFill>
                <a:latin typeface="Segoe UI"/>
              </a:rPr>
              <a:t>PARIPALLI NAVADEEP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5B6BA"/>
                </a:solidFill>
                <a:latin typeface="Segoe UI"/>
              </a:rPr>
              <a:t>2520030196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632704"/>
            <a:ext cx="29260" cy="786384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5632704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EDF7F7"/>
                </a:solidFill>
                <a:latin typeface="Segoe UI"/>
              </a:rPr>
              <a:t>Dr. J Sirisha Devi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A5B6BA"/>
                </a:solidFill>
                <a:latin typeface="Segoe UI"/>
              </a:rPr>
              <a:t>Professor, Department of Computer Science and Engineering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A5B6BA"/>
                </a:solidFill>
                <a:latin typeface="Segoe UI"/>
              </a:rPr>
              <a:t>Koneru Lakshmaiah Education Foundation  ·  2026-2027, Odd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One error line, spread across seven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5B6BA"/>
                </a:solidFill>
                <a:latin typeface="Segoe UI"/>
              </a:rPr>
              <a:t>During an outage the evidence exists, but it is diluted, interleaved and queried faster than a human can read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57984"/>
            <a:ext cx="5230368" cy="3968496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7185"/>
                </a:solidFill>
                <a:latin typeface="Segoe UI"/>
              </a:rPr>
              <a:t>THE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4718304" cy="1570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50">
                <a:solidFill>
                  <a:srgbClr val="FB7185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A payment provider begins returning 502 responses.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50">
                <a:solidFill>
                  <a:srgbClr val="FB7185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The order service retries; the gateway returns 504.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50">
                <a:solidFill>
                  <a:srgbClr val="FB7185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Notifications stop; customers see failed checkouts.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50">
                <a:solidFill>
                  <a:srgbClr val="FB7185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The first ERROR line appears immediately — but it is one record among ~14,000 across seven services.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50">
                <a:solidFill>
                  <a:srgbClr val="FB7185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Scrolling a flat log view does not surface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57984"/>
            <a:ext cx="5230368" cy="3968496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3774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WHY NAIVE SEARCH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724912"/>
            <a:ext cx="4718304" cy="137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250">
                <a:solidFill>
                  <a:srgbClr val="FBBF24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Substring search is O(nm): it rescans the corpus on every keystroke.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250">
                <a:solidFill>
                  <a:srgbClr val="FBBF24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Worst case it is quadratic in the pattern length.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250">
                <a:solidFill>
                  <a:srgbClr val="FBBF24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The engineer does not know the phrase to search for.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250">
                <a:solidFill>
                  <a:srgbClr val="FBBF24"/>
                </a:solidFill>
                <a:latin typeface="Segoe UI"/>
              </a:rPr>
              <a:t>— </a:t>
            </a:r>
            <a:r>
              <a:rPr sz="1250">
                <a:solidFill>
                  <a:srgbClr val="C8D7D9"/>
                </a:solidFill>
                <a:latin typeface="Segoe UI"/>
              </a:rPr>
              <a:t>The message that matters is the one that actually occurred, not the one remembered.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Classical algorithms, made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5B6BA"/>
                </a:solidFill>
                <a:latin typeface="Segoe UI"/>
              </a:rPr>
              <a:t>Each number on screen is traceable to the algorithm that produced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94560"/>
            <a:ext cx="32004" cy="138988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DF7F7"/>
                </a:solidFill>
                <a:latin typeface="Segoe UI"/>
              </a:rPr>
              <a:t>KMP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350008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5EEAD4"/>
                </a:solidFill>
                <a:latin typeface="Segoe UI"/>
              </a:rPr>
              <a:t>O(n + 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79191"/>
            <a:ext cx="30723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Linear exact substring search. No backtracking; failure function pulls the pattern state back instead of the text pointer.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2194560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1" y="2194560"/>
            <a:ext cx="32004" cy="138988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5" y="233172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DF7F7"/>
                </a:solidFill>
                <a:latin typeface="Segoe UI"/>
              </a:rPr>
              <a:t>Aho-Corasick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5" y="2350008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O(n)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5" y="2679191"/>
            <a:ext cx="30723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All error signatures tested in one left-to-right pass — this is what labels each generated event with its cause.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194560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194560"/>
            <a:ext cx="32004" cy="138988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DF7F7"/>
                </a:solidFill>
                <a:latin typeface="Segoe UI"/>
              </a:rPr>
              <a:t>Levenshtein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9" y="2350008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A78BFA"/>
                </a:solidFill>
                <a:latin typeface="Segoe UI"/>
              </a:rPr>
              <a:t>O(nm)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79191"/>
            <a:ext cx="30723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Edit-distance DP table ranks a “did you mean” suggestion when the operator does not know the phrase.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67328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767328"/>
            <a:ext cx="32004" cy="138988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904488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DF7F7"/>
                </a:solidFill>
                <a:latin typeface="Segoe UI"/>
              </a:rPr>
              <a:t>BFS reachability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3922776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FBBF24"/>
                </a:solidFill>
                <a:latin typeface="Segoe UI"/>
              </a:rPr>
              <a:t>O(V + 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251960"/>
            <a:ext cx="30723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Blast radius: services reachable downstream of the failing one, by graph traversal.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1" y="3767328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1" y="3767328"/>
            <a:ext cx="32004" cy="13898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5" y="3904488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DF7F7"/>
                </a:solidFill>
                <a:latin typeface="Segoe UI"/>
              </a:rPr>
              <a:t>Fixed-window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5" y="3922776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O(n + 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575" y="4251960"/>
            <a:ext cx="30723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Five-minute buckets, baseline-relative threshold, merged into one incident per failure.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3767328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3296" y="3767328"/>
            <a:ext cx="32004" cy="1389888"/>
          </a:xfrm>
          <a:prstGeom prst="rect">
            <a:avLst/>
          </a:prstGeom>
          <a:solidFill>
            <a:srgbClr val="E7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904488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DF7F7"/>
                </a:solidFill>
                <a:latin typeface="Segoe UI"/>
              </a:rPr>
              <a:t>Suffix array + LCP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59" y="3922776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79AC4"/>
                </a:solidFill>
                <a:latin typeface="Segoe UI"/>
              </a:rPr>
              <a:t>O(n log 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251960"/>
            <a:ext cx="30723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Kasai LCP powers traceable phrase search over the corpus.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4864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71013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486400"/>
            <a:ext cx="32004" cy="9144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6144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EDF7F7"/>
                </a:solidFill>
                <a:latin typeface="Segoe UI"/>
              </a:rPr>
              <a:t>Every one of these runs in the product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07024"/>
            <a:ext cx="10369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A wider repertoire — bitmask TSP, Needleman-Wunsch, Dinic flow, vertex-cover kernelization, parallel prefix scan, Miller-Rabin — is exposed as runnable, traceable implementations in the Algorithm Lab.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Three layers, one deterministic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5B6BA"/>
                </a:solidFill>
                <a:latin typeface="Segoe UI"/>
              </a:rPr>
              <a:t>State is server-owned so the overview and the monitor can never show contradictory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57984"/>
            <a:ext cx="10881360" cy="969264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57984"/>
            <a:ext cx="32004" cy="96926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768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5EEAD4"/>
                </a:solidFill>
                <a:latin typeface="Segoe UI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6032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50" b="1">
                <a:solidFill>
                  <a:srgbClr val="EDF7F7"/>
                </a:solidFill>
                <a:latin typeface="Segoe UI"/>
              </a:rPr>
              <a:t>React 18 · TypeScript ·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042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Command center, Scenario Lab, Live Monitor, Incident Workbench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2D SVG topology + lazy-loaded Three.js scene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One TelemetryProvider owns the SSE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55264"/>
            <a:ext cx="10881360" cy="969264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55264"/>
            <a:ext cx="32004" cy="9692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74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60A5FA"/>
                </a:solidFill>
                <a:latin typeface="Segoe UI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65760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50" b="1">
                <a:solidFill>
                  <a:srgbClr val="EDF7F7"/>
                </a:solidFill>
                <a:latin typeface="Segoe UI"/>
              </a:rPr>
              <a:t>Java 21 · Spring Boot · REST + 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0156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Dataset lifecycle, incident detector, deterministic simulation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35 algorithm engines behind a query registry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Forward-only incident lifecycle; illegal moves return 409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52544"/>
            <a:ext cx="10881360" cy="969264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352544"/>
            <a:ext cx="32004" cy="9692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4714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78BFA"/>
                </a:solidFill>
                <a:latin typeface="Segoe UI"/>
              </a:rPr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75488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50" b="1">
                <a:solidFill>
                  <a:srgbClr val="EDF7F7"/>
                </a:solidFill>
                <a:latin typeface="Segoe UI"/>
              </a:rPr>
              <a:t>com.loginsight.dsa (pure Java)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4988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String matching · dynamic programming · graph traversal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Flow · approximation · parallel · randomized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Each reports measured runtime and complexity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449824"/>
            <a:ext cx="10881360" cy="969264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449824"/>
            <a:ext cx="32004" cy="9692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5686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Segoe UI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85216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50" b="1">
                <a:solidFill>
                  <a:srgbClr val="EDF7F7"/>
                </a:solidFill>
                <a:latin typeface="Segoe UI"/>
              </a:rPr>
              <a:t>Deterministic in-memory corpus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5961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14,000 seeded events, re-anchored to the current hour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Simulation frames are pure functions of (scenario, seed, tick)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80" b="0">
                <a:solidFill>
                  <a:srgbClr val="A5B6BA"/>
                </a:solidFill>
                <a:latin typeface="Segoe UI"/>
              </a:rPr>
              <a:t>•  In-memory: restart discards state — stated, not 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DSA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The algorithm that labels every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5B6BA"/>
                </a:solidFill>
                <a:latin typeface="Segoe UI"/>
              </a:rPr>
              <a:t>Aho-Corasick is what turns raw generated text into a named, evidenced failure signature.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57984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071013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EEAD4"/>
                </a:solidFill>
                <a:latin typeface="Consolas"/>
              </a:rPr>
              <a:t>SCAN(root, text):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C8D7D9"/>
                </a:solidFill>
                <a:latin typeface="Consolas"/>
              </a:rPr>
              <a:t>    state = root; hits = []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C8D7D9"/>
                </a:solidFill>
                <a:latin typeface="Consolas"/>
              </a:rPr>
              <a:t>    for c in text: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C8D7D9"/>
                </a:solidFill>
                <a:latin typeface="Consolas"/>
              </a:rPr>
              <a:t>        state = state.next[c]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C8D7D9"/>
                </a:solidFill>
                <a:latin typeface="Consolas"/>
              </a:rPr>
              <a:t>        for p in state.output: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EEAD4"/>
                </a:solidFill>
                <a:latin typeface="Consolas"/>
              </a:rPr>
              <a:t>            hits.add(p)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C8D7D9"/>
                </a:solidFill>
                <a:latin typeface="Consolas"/>
              </a:rPr>
              <a:t>    return hits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5EEAD4"/>
                </a:solidFill>
                <a:latin typeface="Segoe UI"/>
              </a:rPr>
              <a:t>Why it matters here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A5B6BA"/>
                </a:solidFill>
                <a:latin typeface="Segoe UI"/>
              </a:rPr>
              <a:t>The detector must test every candidate error signature against each incoming record. One search per signature multiplies the cost by the signature count; a single automaton pass is O(n) in the text length no matter how many patterns 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3136" y="2157984"/>
            <a:ext cx="4736592" cy="393192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3591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5EEAD4"/>
                </a:solidFill>
                <a:latin typeface="Segoe UI"/>
              </a:rPr>
              <a:t>PRODUCTION vs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06624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EDF7F7"/>
                </a:solidFill>
                <a:latin typeface="Segoe UI"/>
              </a:rPr>
              <a:t>In the product pipeline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34D399"/>
                </a:solidFill>
                <a:latin typeface="Segoe UI"/>
              </a:rPr>
              <a:t>KMP — default phrase search and dominant-signature location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34D399"/>
                </a:solidFill>
                <a:latin typeface="Segoe UI"/>
              </a:rPr>
              <a:t>Aho-Corasick — per-record signature labelling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34D399"/>
                </a:solidFill>
                <a:latin typeface="Segoe UI"/>
              </a:rPr>
              <a:t>Levenshtein — “did you mean” suggestion ranking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34D399"/>
                </a:solidFill>
                <a:latin typeface="Segoe UI"/>
              </a:rPr>
              <a:t>Suffix array + Kasai LCP — traceable phrase search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>
                <a:solidFill>
                  <a:srgbClr val="34D399"/>
                </a:solidFill>
                <a:latin typeface="Segoe UI"/>
              </a:rPr>
              <a:t>Reservoir sampling — bounded stream sample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EDF7F7"/>
                </a:solidFill>
                <a:latin typeface="Segoe UI"/>
              </a:rPr>
              <a:t>Exposed for study only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Bitmask TSP, Needleman-Wunsch, Dinic flow, vertex-cover kernelization, parallel prefix scan, Miller-Rabin and more — runnable and traceable, deliberately not in the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REAL-TIME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Seven declared failure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5B6BA"/>
                </a:solidFill>
                <a:latin typeface="Segoe UI"/>
              </a:rPr>
              <a:t>A frame is a pure function of scenario, seed and tick. Speed changes delivery pacing only — never event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21408"/>
            <a:ext cx="2578608" cy="109728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21408"/>
            <a:ext cx="27432" cy="10972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2128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DF7F7"/>
                </a:solidFill>
                <a:latin typeface="Segoe UI"/>
              </a:rPr>
              <a:t>Checkout 5xx Cascade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Payments 502s to Orders; checkout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9443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7185"/>
                </a:solidFill>
                <a:latin typeface="Segoe UI"/>
              </a:rPr>
              <a:t>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1" y="2121408"/>
            <a:ext cx="2578608" cy="109728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1" y="2121408"/>
            <a:ext cx="27432" cy="10972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2128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DF7F7"/>
                </a:solidFill>
                <a:latin typeface="Segoe UI"/>
              </a:rPr>
              <a:t>Database Latency Spike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9" y="245059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Pool exhaustion lifts p95 everywhere.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59" y="29443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MAJOR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2121408"/>
            <a:ext cx="2578608" cy="109728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5" y="2121408"/>
            <a:ext cx="27432" cy="10972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22128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DF7F7"/>
                </a:solidFill>
                <a:latin typeface="Segoe UI"/>
              </a:rPr>
              <a:t>Authentication Burst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45059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Token failures spike; gateway retries.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3" y="29443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MAJOR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121408"/>
            <a:ext cx="2578608" cy="109728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121408"/>
            <a:ext cx="27432" cy="10972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22128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DF7F7"/>
                </a:solidFill>
                <a:latin typeface="Segoe UI"/>
              </a:rPr>
              <a:t>Cache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45059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Cache unreachable; reads hit the DB.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9443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MAJOR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346703"/>
            <a:ext cx="2578608" cy="109728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346703"/>
            <a:ext cx="27432" cy="10972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34381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DF7F7"/>
                </a:solidFill>
                <a:latin typeface="Segoe UI"/>
              </a:rPr>
              <a:t>Traffic Surge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" y="367588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Marketing push multiplies traffic.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416966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MINOR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0711" y="3346703"/>
            <a:ext cx="2578608" cy="109728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0711" y="3346703"/>
            <a:ext cx="27432" cy="10972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59" y="34381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DF7F7"/>
                </a:solidFill>
                <a:latin typeface="Segoe UI"/>
              </a:rPr>
              <a:t>Deployment Regression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59" y="367588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New Payments build, null handler.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59" y="416966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MAJOR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5" y="3346703"/>
            <a:ext cx="2578608" cy="109728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3055" y="3346703"/>
            <a:ext cx="27432" cy="10972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3" y="34381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DF7F7"/>
                </a:solidFill>
                <a:latin typeface="Segoe UI"/>
              </a:rPr>
              <a:t>Payment Timeout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3" y="367588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Processor stops responding in budget.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3" y="416966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FB7185"/>
                </a:solidFill>
                <a:latin typeface="Segoe UI"/>
              </a:rPr>
              <a:t>CRITICAL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3346703"/>
            <a:ext cx="2578608" cy="1097280"/>
          </a:xfrm>
          <a:prstGeom prst="roundRect">
            <a:avLst>
              <a:gd name="adj" fmla="val 6000"/>
            </a:avLst>
          </a:prstGeom>
          <a:solidFill>
            <a:srgbClr val="071013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70848" y="34381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DECLARED SEVERITY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712463"/>
            <a:ext cx="22860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B7185"/>
                </a:solidFill>
                <a:latin typeface="Segoe UI"/>
              </a:rPr>
              <a:t>3 CRITICAL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4 MAJOR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1 MINOR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681728"/>
            <a:ext cx="2578608" cy="1042415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80060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" y="50292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5EEAD4"/>
                </a:solidFill>
                <a:latin typeface="Segoe UI"/>
              </a:rPr>
              <a:t>3× baseline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" y="5413248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five-minute windows, floor of 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10712" y="4681728"/>
            <a:ext cx="2578608" cy="1042415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2" y="480060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BLAST RADIUS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3592" y="50292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60A5FA"/>
                </a:solidFill>
                <a:latin typeface="Segoe UI"/>
              </a:rPr>
              <a:t>BFS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3592" y="5413248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reachability, not causation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63056" y="4681728"/>
            <a:ext cx="2578608" cy="1042415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480060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LIFECYCLE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5936" y="50292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34D399"/>
                </a:solidFill>
                <a:latin typeface="Segoe UI"/>
              </a:rPr>
              <a:t>5 states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45936" y="5413248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forward-only; 409 on illegal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15400" y="4681728"/>
            <a:ext cx="2624328" cy="1042415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480060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DELIVERY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5029200"/>
            <a:ext cx="2258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A78BFA"/>
                </a:solidFill>
                <a:latin typeface="Segoe UI"/>
              </a:rPr>
              <a:t>0.25–8×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413248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pacing only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58521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>
                <a:solidFill>
                  <a:srgbClr val="A5B6BA"/>
                </a:solidFill>
                <a:latin typeface="Segoe UI"/>
              </a:rPr>
              <a:t>Health bands are fixed heuristic thresholds (healthy &lt; 5%, watch &lt; 10%, elevated ≥ 10% window error rate). Incidents carry no confidence score, because none is computed.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Overview command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273" y="1627632"/>
            <a:ext cx="6905548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46273" y="6035040"/>
            <a:ext cx="69055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Asymmetric by design: telemetry takes the wider column, the incident panel the narrower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Scenario Lab — a controlled failure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un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6349593" cy="3968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7424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Run in progress: phase, metrics, evidence and incident advance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2127" y="1700784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5EEAD4"/>
                </a:solidFill>
                <a:latin typeface="Segoe UI"/>
              </a:rPr>
              <a:t>READING THE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2286000"/>
            <a:ext cx="3200400" cy="131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Seven scenarios with declared severity and affected services.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Server-Sent Events carry each frame.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Evidence rows name the matcher that produced each signature.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A single provider feeds overview, monitor and workbench.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Incident Workbench — a digital investigation 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cident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6349593" cy="3968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74243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Navigator · selected incident · context, at 220–280px / widest / 280px+.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700784"/>
            <a:ext cx="3383280" cy="402336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5EEAD4"/>
                </a:solidFill>
                <a:latin typeface="Segoe UI"/>
              </a:rPr>
              <a:t>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2494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C8D7D9"/>
                </a:solidFill>
                <a:latin typeface="Segoe UI"/>
              </a:rPr>
              <a:t>DETECTED → INVESTIGATING → ACKNOWLEDGED → MITIGATED → 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980944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Forward transitions only. An attempt to move backwards, or to reopen a closed incident, is rejected with HTTP 409 instead of being silently accepted.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34D399"/>
                </a:solidFill>
                <a:latin typeface="Segoe UI"/>
              </a:rPr>
              <a:t>This was a real defect found during the audit: the endpoint returned 200 and ignored the illegal move, so a client could believe it had closed an incident that was still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Service topology — one graph, two renderers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pology-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" y="1664208"/>
            <a:ext cx="5003596" cy="3127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6460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2D — accessible SVG map with paired node/edge list.</a:t>
            </a:r>
          </a:p>
        </p:txBody>
      </p:sp>
      <p:pic>
        <p:nvPicPr>
          <p:cNvPr id="7" name="Picture 6" descr="topology-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045" y="1664208"/>
            <a:ext cx="5003596" cy="3127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72784" y="486460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3D — lazy-loaded WebGL scene (separate bundle).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21807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Node size is measured event volume; node state is the measured health band — neither encodes importance or request rate. Surfaces state whether edges are OBSERVED request-trail adjacency or DECLARED scenario dependencies.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C8D7D9"/>
                </a:solidFill>
                <a:latin typeface="Segoe UI"/>
              </a:rPr>
              <a:t>The camera does not auto-rotate or auto-zoom, the loop pauses off-screen or on a hidden tab, and every renderer, geometry, material, observer and listener is disposed on unmount.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DSA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Algorithm catalogue and traceable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gorithm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273" y="1627632"/>
            <a:ext cx="6905548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46273" y="6035040"/>
            <a:ext cx="69055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Each technique reports module, query type, time and space complexity, and whether it is exposed or traceable.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Claims that are measured, not asserted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5B6BA"/>
                </a:solidFill>
                <a:latin typeface="Segoe UI"/>
              </a:rPr>
              <a:t>Reproducible from the repository: CI runs the same three commands on every push to main.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57984"/>
            <a:ext cx="2578608" cy="111556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76856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BACKEND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05456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5EEAD4"/>
                </a:solidFill>
                <a:latin typeface="Segoe UI"/>
              </a:rPr>
              <a:t>877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62656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0 failures · 0 errors · 0 skipped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2157984"/>
            <a:ext cx="2578608" cy="111556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2276856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FRONTEND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505456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60A5FA"/>
                </a:solidFill>
                <a:latin typeface="Segoe UI"/>
              </a:rPr>
              <a:t>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962656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across 17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157984"/>
            <a:ext cx="2578608" cy="111556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276856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CONSOLE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05456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34D399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962656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every route, every viewport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2157984"/>
            <a:ext cx="2578608" cy="1115568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276856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A5B6BA"/>
                </a:solidFill>
                <a:latin typeface="Segoe UI"/>
              </a:rPr>
              <a:t>CONTRAST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505456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34D399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962656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measured vs 4.5:1 requirement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93008"/>
            <a:ext cx="5358384" cy="2432304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5EEAD4"/>
                </a:solidFill>
                <a:latin typeface="Segoe UI"/>
              </a:rPr>
              <a:t>STABILITY UNDER REPETITION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023360"/>
            <a:ext cx="4882896" cy="126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5× 2D↔3D switching: exactly one canvas, flat DOM and heap.</a:t>
            </a:r>
          </a:p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3× start/stop: event buffer bounded at 40 rows.</a:t>
            </a:r>
          </a:p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12 route changes: identical DOM, zero leaked canvases.</a:t>
            </a:r>
          </a:p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No horizontal overflow at 5 viewports, 1440→390.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493008"/>
            <a:ext cx="5358384" cy="2432304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5EEAD4"/>
                </a:solidFill>
                <a:latin typeface="Segoe UI"/>
              </a:rPr>
              <a:t>ACCESSIBILITY FLOOR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023360"/>
            <a:ext cx="4882896" cy="126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Minimum 10px text (root is 14px, so 0.72rem = 10.08px).</a:t>
            </a:r>
          </a:p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Minimum 24×24px targets; 32px on touch viewports.</a:t>
            </a:r>
          </a:p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2px focus ring on every keyboard stop.</a:t>
            </a:r>
          </a:p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5EEAD4"/>
                </a:solidFill>
                <a:latin typeface="Segoe UI"/>
              </a:rPr>
              <a:t>— </a:t>
            </a:r>
            <a:r>
              <a:rPr sz="1150">
                <a:solidFill>
                  <a:srgbClr val="C8D7D9"/>
                </a:solidFill>
                <a:latin typeface="Segoe UI"/>
              </a:rPr>
              <a:t>Colour never carries meaning alone.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Restructured, not scaled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ble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55648"/>
            <a:ext cx="502920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6007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1024 × 768</a:t>
            </a:r>
          </a:p>
        </p:txBody>
      </p:sp>
      <p:pic>
        <p:nvPicPr>
          <p:cNvPr id="7" name="Picture 6" descr="mobil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27632"/>
            <a:ext cx="1833783" cy="39684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669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A9CA0"/>
                </a:solidFill>
                <a:latin typeface="Segoe UI"/>
              </a:rPr>
              <a:t>390 × 844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755648"/>
            <a:ext cx="2029968" cy="384048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0928" y="19019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5EEAD4"/>
                </a:solidFill>
                <a:latin typeface="Segoe UI"/>
              </a:rPr>
              <a:t>AT 390px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2249424"/>
            <a:ext cx="1700784" cy="1064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000">
                <a:solidFill>
                  <a:srgbClr val="5EEAD4"/>
                </a:solidFill>
                <a:latin typeface="Segoe UI"/>
              </a:rPr>
              <a:t>— </a:t>
            </a:r>
            <a:r>
              <a:rPr sz="1000">
                <a:solidFill>
                  <a:srgbClr val="C8D7D9"/>
                </a:solidFill>
                <a:latin typeface="Segoe UI"/>
              </a:rPr>
              <a:t>Single column in priority order.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000">
                <a:solidFill>
                  <a:srgbClr val="5EEAD4"/>
                </a:solidFill>
                <a:latin typeface="Segoe UI"/>
              </a:rPr>
              <a:t>— </a:t>
            </a:r>
            <a:r>
              <a:rPr sz="1000">
                <a:solidFill>
                  <a:srgbClr val="C8D7D9"/>
                </a:solidFill>
                <a:latin typeface="Segoe UI"/>
              </a:rPr>
              <a:t>Nav collapses to a drawer.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000">
                <a:solidFill>
                  <a:srgbClr val="5EEAD4"/>
                </a:solidFill>
                <a:latin typeface="Segoe UI"/>
              </a:rPr>
              <a:t>— </a:t>
            </a:r>
            <a:r>
              <a:rPr sz="1000">
                <a:solidFill>
                  <a:srgbClr val="C8D7D9"/>
                </a:solidFill>
                <a:latin typeface="Segoe UI"/>
              </a:rPr>
              <a:t>Tables scroll inside their own box.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000">
                <a:solidFill>
                  <a:srgbClr val="5EEAD4"/>
                </a:solidFill>
                <a:latin typeface="Segoe UI"/>
              </a:rPr>
              <a:t>— </a:t>
            </a:r>
            <a:r>
              <a:rPr sz="1000">
                <a:solidFill>
                  <a:srgbClr val="C8D7D9"/>
                </a:solidFill>
                <a:latin typeface="Segoe UI"/>
              </a:rPr>
              <a:t>Targets grow to 32px.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00784"/>
            <a:ext cx="2679192" cy="320040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2679192" cy="2743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20240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DF7F7"/>
                </a:solidFill>
                <a:latin typeface="Segoe UI"/>
              </a:rPr>
              <a:t>In-memory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2276856" cy="888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FB7185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Single JVM; no durable storage.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FB7185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Restart discards the dataset and any running stream.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FB7185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Not a multi-node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700784"/>
            <a:ext cx="2679192" cy="320040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864" y="1700784"/>
            <a:ext cx="2679192" cy="274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920240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DF7F7"/>
                </a:solidFill>
                <a:latin typeface="Segoe UI"/>
              </a:rPr>
              <a:t>Generated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322576"/>
            <a:ext cx="2276856" cy="62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FBBF24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Simulation is deterministic and labelled generated.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FBBF24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Not evidence about any real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00784"/>
            <a:ext cx="2679192" cy="320040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00784"/>
            <a:ext cx="2679192" cy="274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920240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DF7F7"/>
                </a:solidFill>
                <a:latin typeface="Segoe UI"/>
              </a:rPr>
              <a:t>Heuristics, not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322576"/>
            <a:ext cx="2276856" cy="888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60A5FA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Fixed thresholds, no trained model.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60A5FA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No confidence score, because none is computed.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60A5FA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Blast radius is reachability, not root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700784"/>
            <a:ext cx="2679192" cy="3200400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34856" y="1700784"/>
            <a:ext cx="2679192" cy="27432"/>
          </a:xfrm>
          <a:prstGeom prst="rect">
            <a:avLst/>
          </a:prstGeom>
          <a:solidFill>
            <a:srgbClr val="A5B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1920240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DF7F7"/>
                </a:solidFill>
                <a:latin typeface="Segoe UI"/>
              </a:rPr>
              <a:t>Bounded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322576"/>
            <a:ext cx="2276856" cy="888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A5B6BA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Run history, buffers and trace steps are capped.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A5B6BA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Protects memory at the cost of depth.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050">
                <a:solidFill>
                  <a:srgbClr val="A5B6BA"/>
                </a:solidFill>
                <a:latin typeface="Segoe UI"/>
              </a:rPr>
              <a:t>— </a:t>
            </a:r>
            <a:r>
              <a:rPr sz="1050">
                <a:solidFill>
                  <a:srgbClr val="C8D7D9"/>
                </a:solidFill>
                <a:latin typeface="Segoe UI"/>
              </a:rPr>
              <a:t>Compose validated for syntax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0235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A5B6BA"/>
                </a:solidFill>
                <a:latin typeface="Segoe UI"/>
              </a:rPr>
              <a:t>The project is academic software. Its shape is defensible for a single-node demonstration and is not presented as production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5EEAD4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81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1">
                <a:solidFill>
                  <a:srgbClr val="EDF7F7"/>
                </a:solidFill>
                <a:latin typeface="Segoe UI"/>
              </a:rPr>
              <a:t>Classical algorithms, applied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2801"/>
          </a:xfrm>
          <a:prstGeom prst="rect">
            <a:avLst/>
          </a:prstGeom>
          <a:solidFill>
            <a:srgbClr val="1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82496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82496"/>
            <a:ext cx="32004" cy="98755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EDF7F7"/>
                </a:solidFill>
                <a:latin typeface="Segoe UI"/>
              </a:rPr>
              <a:t>The DSA is load-bearing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10332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A5B6BA"/>
                </a:solidFill>
                <a:latin typeface="Segoe UI"/>
              </a:rPr>
              <a:t>KMP, Aho-Corasick, Levenshtein, BFS and fixed-window detection run in the product pipeline — not only in a demo folder.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16352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816352"/>
            <a:ext cx="32004" cy="9875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44368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EDF7F7"/>
                </a:solidFill>
                <a:latin typeface="Segoe UI"/>
              </a:rPr>
              <a:t>Provenance is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332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A5B6BA"/>
                </a:solidFill>
                <a:latin typeface="Segoe UI"/>
              </a:rPr>
              <a:t>Dataset replay and generated simulation are labelled apart; observed and declared edges are distinguished on every surface.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50208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0B1418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950208"/>
            <a:ext cx="32004" cy="9875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78224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EDF7F7"/>
                </a:solidFill>
                <a:latin typeface="Segoe UI"/>
              </a:rPr>
              <a:t>The numbers are reproducible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25696"/>
            <a:ext cx="10332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A5B6BA"/>
                </a:solidFill>
                <a:latin typeface="Segoe UI"/>
              </a:rPr>
              <a:t>877 backend tests, 55 frontend tests, green CI, and a browser pass with zero console errors and zero contrast failures.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138928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071013"/>
          </a:solidFill>
          <a:ln w="9525">
            <a:solidFill>
              <a:srgbClr val="1E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1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A5B6BA"/>
                </a:solidFill>
                <a:latin typeface="Segoe UI"/>
              </a:rPr>
              <a:t>Repository:  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Consolas"/>
              </a:rPr>
              <a:t>github.com/karkalashivareddy/KLH_CSE_2026-27_DSA-3_S3_T17_Loginsight-Analyzer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LogInsight  ·  KLH_CSE_2026-27_DSA-3_S3_T17_Loginsight-Analyzer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0080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498A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47504" y="246888"/>
            <a:ext cx="2048255" cy="1135493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8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402336"/>
            <a:ext cx="1737360" cy="824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871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200" b="1">
                <a:solidFill>
                  <a:srgbClr val="EDF7F7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A5B6BA"/>
                </a:solidFill>
                <a:latin typeface="Segoe UI"/>
              </a:rPr>
              <a:t>Questions are welcome — particularly on the algorithm choices and the honesty constraints.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61104"/>
            <a:ext cx="1371600" cy="1828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C8D7D9"/>
                </a:solidFill>
                <a:latin typeface="Segoe UI"/>
              </a:rPr>
              <a:t>KARKALA SHIVA REDDY  ·  2520030105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8D7D9"/>
                </a:solidFill>
                <a:latin typeface="Segoe UI"/>
              </a:rPr>
              <a:t>PARIPALLI NAVADEEP  ·  2520030196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A5B6BA"/>
                </a:solidFill>
                <a:latin typeface="Segoe UI"/>
              </a:rPr>
              <a:t>Dr. J Sirisha Devi  ·  Professor, Department of Computer Science and Engineering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A5B6BA"/>
                </a:solidFill>
                <a:latin typeface="Segoe UI"/>
              </a:rPr>
              <a:t>Koneru Lakshmaiah Education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